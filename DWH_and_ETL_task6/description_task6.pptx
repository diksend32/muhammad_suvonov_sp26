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43EFC-6D0A-4846-631B-9AD900A3E8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ru-RU"/>
          </a:p>
        </p:txBody>
      </p:sp>
      <p:sp>
        <p:nvSpPr>
          <p:cNvPr id="3" name="Subtitle 2">
            <a:extLst>
              <a:ext uri="{FF2B5EF4-FFF2-40B4-BE49-F238E27FC236}">
                <a16:creationId xmlns:a16="http://schemas.microsoft.com/office/drawing/2014/main" id="{05329F08-CE04-DC59-E50E-719D5AED9C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u-RU"/>
          </a:p>
        </p:txBody>
      </p:sp>
      <p:sp>
        <p:nvSpPr>
          <p:cNvPr id="4" name="Date Placeholder 3">
            <a:extLst>
              <a:ext uri="{FF2B5EF4-FFF2-40B4-BE49-F238E27FC236}">
                <a16:creationId xmlns:a16="http://schemas.microsoft.com/office/drawing/2014/main" id="{EB99C4BA-755E-71C2-E007-6D4E52247B5B}"/>
              </a:ext>
            </a:extLst>
          </p:cNvPr>
          <p:cNvSpPr>
            <a:spLocks noGrp="1"/>
          </p:cNvSpPr>
          <p:nvPr>
            <p:ph type="dt" sz="half" idx="10"/>
          </p:nvPr>
        </p:nvSpPr>
        <p:spPr/>
        <p:txBody>
          <a:bodyPr/>
          <a:lstStyle/>
          <a:p>
            <a:fld id="{9704AAA4-3E46-4BFC-B013-946407404189}" type="datetimeFigureOut">
              <a:rPr lang="ru-RU" smtClean="0"/>
              <a:t>14.07.2026</a:t>
            </a:fld>
            <a:endParaRPr lang="ru-RU"/>
          </a:p>
        </p:txBody>
      </p:sp>
      <p:sp>
        <p:nvSpPr>
          <p:cNvPr id="5" name="Footer Placeholder 4">
            <a:extLst>
              <a:ext uri="{FF2B5EF4-FFF2-40B4-BE49-F238E27FC236}">
                <a16:creationId xmlns:a16="http://schemas.microsoft.com/office/drawing/2014/main" id="{D98E186D-7567-82F1-5222-67CB3F39696F}"/>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BCE1EAB4-89BC-6633-ABF5-2817520DACCA}"/>
              </a:ext>
            </a:extLst>
          </p:cNvPr>
          <p:cNvSpPr>
            <a:spLocks noGrp="1"/>
          </p:cNvSpPr>
          <p:nvPr>
            <p:ph type="sldNum" sz="quarter" idx="12"/>
          </p:nvPr>
        </p:nvSpPr>
        <p:spPr/>
        <p:txBody>
          <a:bodyPr/>
          <a:lstStyle/>
          <a:p>
            <a:fld id="{9754CC12-C20D-43B9-8953-73F8ACB1E8DC}" type="slidenum">
              <a:rPr lang="ru-RU" smtClean="0"/>
              <a:t>‹#›</a:t>
            </a:fld>
            <a:endParaRPr lang="ru-RU"/>
          </a:p>
        </p:txBody>
      </p:sp>
    </p:spTree>
    <p:extLst>
      <p:ext uri="{BB962C8B-B14F-4D97-AF65-F5344CB8AC3E}">
        <p14:creationId xmlns:p14="http://schemas.microsoft.com/office/powerpoint/2010/main" val="2447192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04E78-B2F0-68C4-B6AB-0BECADC208FE}"/>
              </a:ext>
            </a:extLst>
          </p:cNvPr>
          <p:cNvSpPr>
            <a:spLocks noGrp="1"/>
          </p:cNvSpPr>
          <p:nvPr>
            <p:ph type="title"/>
          </p:nvPr>
        </p:nvSpPr>
        <p:spPr/>
        <p:txBody>
          <a:bodyPr/>
          <a:lstStyle/>
          <a:p>
            <a:r>
              <a:rPr lang="en-US"/>
              <a:t>Click to edit Master title style</a:t>
            </a:r>
            <a:endParaRPr lang="ru-RU"/>
          </a:p>
        </p:txBody>
      </p:sp>
      <p:sp>
        <p:nvSpPr>
          <p:cNvPr id="3" name="Content Placeholder 2">
            <a:extLst>
              <a:ext uri="{FF2B5EF4-FFF2-40B4-BE49-F238E27FC236}">
                <a16:creationId xmlns:a16="http://schemas.microsoft.com/office/drawing/2014/main" id="{24C61D18-E7CC-04A1-D5EB-0BEBF9BAAE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E5E94CF8-8D32-7ED8-EBCA-A939AE834282}"/>
              </a:ext>
            </a:extLst>
          </p:cNvPr>
          <p:cNvSpPr>
            <a:spLocks noGrp="1"/>
          </p:cNvSpPr>
          <p:nvPr>
            <p:ph type="dt" sz="half" idx="10"/>
          </p:nvPr>
        </p:nvSpPr>
        <p:spPr/>
        <p:txBody>
          <a:bodyPr/>
          <a:lstStyle/>
          <a:p>
            <a:fld id="{9704AAA4-3E46-4BFC-B013-946407404189}" type="datetimeFigureOut">
              <a:rPr lang="ru-RU" smtClean="0"/>
              <a:t>14.07.2026</a:t>
            </a:fld>
            <a:endParaRPr lang="ru-RU"/>
          </a:p>
        </p:txBody>
      </p:sp>
      <p:sp>
        <p:nvSpPr>
          <p:cNvPr id="5" name="Footer Placeholder 4">
            <a:extLst>
              <a:ext uri="{FF2B5EF4-FFF2-40B4-BE49-F238E27FC236}">
                <a16:creationId xmlns:a16="http://schemas.microsoft.com/office/drawing/2014/main" id="{A79CC222-D19E-C62B-0E8B-EC804893359F}"/>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A242F7B8-0F76-81E1-6517-3644B341D4A1}"/>
              </a:ext>
            </a:extLst>
          </p:cNvPr>
          <p:cNvSpPr>
            <a:spLocks noGrp="1"/>
          </p:cNvSpPr>
          <p:nvPr>
            <p:ph type="sldNum" sz="quarter" idx="12"/>
          </p:nvPr>
        </p:nvSpPr>
        <p:spPr/>
        <p:txBody>
          <a:bodyPr/>
          <a:lstStyle/>
          <a:p>
            <a:fld id="{9754CC12-C20D-43B9-8953-73F8ACB1E8DC}" type="slidenum">
              <a:rPr lang="ru-RU" smtClean="0"/>
              <a:t>‹#›</a:t>
            </a:fld>
            <a:endParaRPr lang="ru-RU"/>
          </a:p>
        </p:txBody>
      </p:sp>
    </p:spTree>
    <p:extLst>
      <p:ext uri="{BB962C8B-B14F-4D97-AF65-F5344CB8AC3E}">
        <p14:creationId xmlns:p14="http://schemas.microsoft.com/office/powerpoint/2010/main" val="596313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115CC-0977-C71E-1F21-9B171687BA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ru-RU"/>
          </a:p>
        </p:txBody>
      </p:sp>
      <p:sp>
        <p:nvSpPr>
          <p:cNvPr id="3" name="Text Placeholder 2">
            <a:extLst>
              <a:ext uri="{FF2B5EF4-FFF2-40B4-BE49-F238E27FC236}">
                <a16:creationId xmlns:a16="http://schemas.microsoft.com/office/drawing/2014/main" id="{A23E8618-40F5-4322-FD4E-DA6C8E6D54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33A19A-1049-EAB3-B8D0-56008C8F0180}"/>
              </a:ext>
            </a:extLst>
          </p:cNvPr>
          <p:cNvSpPr>
            <a:spLocks noGrp="1"/>
          </p:cNvSpPr>
          <p:nvPr>
            <p:ph type="dt" sz="half" idx="10"/>
          </p:nvPr>
        </p:nvSpPr>
        <p:spPr/>
        <p:txBody>
          <a:bodyPr/>
          <a:lstStyle/>
          <a:p>
            <a:fld id="{9704AAA4-3E46-4BFC-B013-946407404189}" type="datetimeFigureOut">
              <a:rPr lang="ru-RU" smtClean="0"/>
              <a:t>14.07.2026</a:t>
            </a:fld>
            <a:endParaRPr lang="ru-RU"/>
          </a:p>
        </p:txBody>
      </p:sp>
      <p:sp>
        <p:nvSpPr>
          <p:cNvPr id="5" name="Footer Placeholder 4">
            <a:extLst>
              <a:ext uri="{FF2B5EF4-FFF2-40B4-BE49-F238E27FC236}">
                <a16:creationId xmlns:a16="http://schemas.microsoft.com/office/drawing/2014/main" id="{F7546D3F-0A7D-7BB0-BF33-D6EC1471AE20}"/>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D63BE9EC-BDDA-C037-6653-E0C6EED3D165}"/>
              </a:ext>
            </a:extLst>
          </p:cNvPr>
          <p:cNvSpPr>
            <a:spLocks noGrp="1"/>
          </p:cNvSpPr>
          <p:nvPr>
            <p:ph type="sldNum" sz="quarter" idx="12"/>
          </p:nvPr>
        </p:nvSpPr>
        <p:spPr/>
        <p:txBody>
          <a:bodyPr/>
          <a:lstStyle/>
          <a:p>
            <a:fld id="{9754CC12-C20D-43B9-8953-73F8ACB1E8DC}" type="slidenum">
              <a:rPr lang="ru-RU" smtClean="0"/>
              <a:t>‹#›</a:t>
            </a:fld>
            <a:endParaRPr lang="ru-RU"/>
          </a:p>
        </p:txBody>
      </p:sp>
    </p:spTree>
    <p:extLst>
      <p:ext uri="{BB962C8B-B14F-4D97-AF65-F5344CB8AC3E}">
        <p14:creationId xmlns:p14="http://schemas.microsoft.com/office/powerpoint/2010/main" val="1383708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EC99F-4527-CD12-C7DB-1E70FE40EADD}"/>
              </a:ext>
            </a:extLst>
          </p:cNvPr>
          <p:cNvSpPr>
            <a:spLocks noGrp="1"/>
          </p:cNvSpPr>
          <p:nvPr>
            <p:ph type="title"/>
          </p:nvPr>
        </p:nvSpPr>
        <p:spPr/>
        <p:txBody>
          <a:bodyPr/>
          <a:lstStyle/>
          <a:p>
            <a:r>
              <a:rPr lang="en-US"/>
              <a:t>Click to edit Master title style</a:t>
            </a:r>
            <a:endParaRPr lang="ru-RU"/>
          </a:p>
        </p:txBody>
      </p:sp>
      <p:sp>
        <p:nvSpPr>
          <p:cNvPr id="3" name="Content Placeholder 2">
            <a:extLst>
              <a:ext uri="{FF2B5EF4-FFF2-40B4-BE49-F238E27FC236}">
                <a16:creationId xmlns:a16="http://schemas.microsoft.com/office/drawing/2014/main" id="{4955A23C-0108-9492-307B-445BA93D51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Content Placeholder 3">
            <a:extLst>
              <a:ext uri="{FF2B5EF4-FFF2-40B4-BE49-F238E27FC236}">
                <a16:creationId xmlns:a16="http://schemas.microsoft.com/office/drawing/2014/main" id="{D28DC956-EB38-8DB9-4AE7-83935A3752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Date Placeholder 4">
            <a:extLst>
              <a:ext uri="{FF2B5EF4-FFF2-40B4-BE49-F238E27FC236}">
                <a16:creationId xmlns:a16="http://schemas.microsoft.com/office/drawing/2014/main" id="{E16E683B-3A3C-B69D-9AD1-208CCA0BA3A2}"/>
              </a:ext>
            </a:extLst>
          </p:cNvPr>
          <p:cNvSpPr>
            <a:spLocks noGrp="1"/>
          </p:cNvSpPr>
          <p:nvPr>
            <p:ph type="dt" sz="half" idx="10"/>
          </p:nvPr>
        </p:nvSpPr>
        <p:spPr/>
        <p:txBody>
          <a:bodyPr/>
          <a:lstStyle/>
          <a:p>
            <a:fld id="{9704AAA4-3E46-4BFC-B013-946407404189}" type="datetimeFigureOut">
              <a:rPr lang="ru-RU" smtClean="0"/>
              <a:t>14.07.2026</a:t>
            </a:fld>
            <a:endParaRPr lang="ru-RU"/>
          </a:p>
        </p:txBody>
      </p:sp>
      <p:sp>
        <p:nvSpPr>
          <p:cNvPr id="6" name="Footer Placeholder 5">
            <a:extLst>
              <a:ext uri="{FF2B5EF4-FFF2-40B4-BE49-F238E27FC236}">
                <a16:creationId xmlns:a16="http://schemas.microsoft.com/office/drawing/2014/main" id="{A49A976A-38F6-3039-D4EC-3C4E8352152B}"/>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E34862E4-95F1-D90C-128B-2A94A7A6CA1B}"/>
              </a:ext>
            </a:extLst>
          </p:cNvPr>
          <p:cNvSpPr>
            <a:spLocks noGrp="1"/>
          </p:cNvSpPr>
          <p:nvPr>
            <p:ph type="sldNum" sz="quarter" idx="12"/>
          </p:nvPr>
        </p:nvSpPr>
        <p:spPr/>
        <p:txBody>
          <a:bodyPr/>
          <a:lstStyle/>
          <a:p>
            <a:fld id="{9754CC12-C20D-43B9-8953-73F8ACB1E8DC}" type="slidenum">
              <a:rPr lang="ru-RU" smtClean="0"/>
              <a:t>‹#›</a:t>
            </a:fld>
            <a:endParaRPr lang="ru-RU"/>
          </a:p>
        </p:txBody>
      </p:sp>
    </p:spTree>
    <p:extLst>
      <p:ext uri="{BB962C8B-B14F-4D97-AF65-F5344CB8AC3E}">
        <p14:creationId xmlns:p14="http://schemas.microsoft.com/office/powerpoint/2010/main" val="723898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1F017-2498-16FB-4EAC-CF55E35C28E9}"/>
              </a:ext>
            </a:extLst>
          </p:cNvPr>
          <p:cNvSpPr>
            <a:spLocks noGrp="1"/>
          </p:cNvSpPr>
          <p:nvPr>
            <p:ph type="title"/>
          </p:nvPr>
        </p:nvSpPr>
        <p:spPr>
          <a:xfrm>
            <a:off x="839788" y="365125"/>
            <a:ext cx="10515600" cy="1325563"/>
          </a:xfrm>
        </p:spPr>
        <p:txBody>
          <a:bodyPr/>
          <a:lstStyle/>
          <a:p>
            <a:r>
              <a:rPr lang="en-US"/>
              <a:t>Click to edit Master title style</a:t>
            </a:r>
            <a:endParaRPr lang="ru-RU"/>
          </a:p>
        </p:txBody>
      </p:sp>
      <p:sp>
        <p:nvSpPr>
          <p:cNvPr id="3" name="Text Placeholder 2">
            <a:extLst>
              <a:ext uri="{FF2B5EF4-FFF2-40B4-BE49-F238E27FC236}">
                <a16:creationId xmlns:a16="http://schemas.microsoft.com/office/drawing/2014/main" id="{69AAFA2B-0731-1F7B-2B9B-6DB2A0181A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FC4568D-DCF7-2264-FCD4-A94D523489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Text Placeholder 4">
            <a:extLst>
              <a:ext uri="{FF2B5EF4-FFF2-40B4-BE49-F238E27FC236}">
                <a16:creationId xmlns:a16="http://schemas.microsoft.com/office/drawing/2014/main" id="{BCB84A1B-88F8-74E2-7180-3EDC9DAAAD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89D51-E623-432F-B840-9A1CD72DC9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7" name="Date Placeholder 6">
            <a:extLst>
              <a:ext uri="{FF2B5EF4-FFF2-40B4-BE49-F238E27FC236}">
                <a16:creationId xmlns:a16="http://schemas.microsoft.com/office/drawing/2014/main" id="{0BBB138D-09E4-DC98-AFBD-0346A57A95B6}"/>
              </a:ext>
            </a:extLst>
          </p:cNvPr>
          <p:cNvSpPr>
            <a:spLocks noGrp="1"/>
          </p:cNvSpPr>
          <p:nvPr>
            <p:ph type="dt" sz="half" idx="10"/>
          </p:nvPr>
        </p:nvSpPr>
        <p:spPr/>
        <p:txBody>
          <a:bodyPr/>
          <a:lstStyle/>
          <a:p>
            <a:fld id="{9704AAA4-3E46-4BFC-B013-946407404189}" type="datetimeFigureOut">
              <a:rPr lang="ru-RU" smtClean="0"/>
              <a:t>14.07.2026</a:t>
            </a:fld>
            <a:endParaRPr lang="ru-RU"/>
          </a:p>
        </p:txBody>
      </p:sp>
      <p:sp>
        <p:nvSpPr>
          <p:cNvPr id="8" name="Footer Placeholder 7">
            <a:extLst>
              <a:ext uri="{FF2B5EF4-FFF2-40B4-BE49-F238E27FC236}">
                <a16:creationId xmlns:a16="http://schemas.microsoft.com/office/drawing/2014/main" id="{4AA97787-5D32-90F7-71D1-7BDE62822664}"/>
              </a:ext>
            </a:extLst>
          </p:cNvPr>
          <p:cNvSpPr>
            <a:spLocks noGrp="1"/>
          </p:cNvSpPr>
          <p:nvPr>
            <p:ph type="ftr" sz="quarter" idx="11"/>
          </p:nvPr>
        </p:nvSpPr>
        <p:spPr/>
        <p:txBody>
          <a:bodyPr/>
          <a:lstStyle/>
          <a:p>
            <a:endParaRPr lang="ru-RU"/>
          </a:p>
        </p:txBody>
      </p:sp>
      <p:sp>
        <p:nvSpPr>
          <p:cNvPr id="9" name="Slide Number Placeholder 8">
            <a:extLst>
              <a:ext uri="{FF2B5EF4-FFF2-40B4-BE49-F238E27FC236}">
                <a16:creationId xmlns:a16="http://schemas.microsoft.com/office/drawing/2014/main" id="{2D333761-CBAB-59DB-F9BD-67E287330A80}"/>
              </a:ext>
            </a:extLst>
          </p:cNvPr>
          <p:cNvSpPr>
            <a:spLocks noGrp="1"/>
          </p:cNvSpPr>
          <p:nvPr>
            <p:ph type="sldNum" sz="quarter" idx="12"/>
          </p:nvPr>
        </p:nvSpPr>
        <p:spPr/>
        <p:txBody>
          <a:bodyPr/>
          <a:lstStyle/>
          <a:p>
            <a:fld id="{9754CC12-C20D-43B9-8953-73F8ACB1E8DC}" type="slidenum">
              <a:rPr lang="ru-RU" smtClean="0"/>
              <a:t>‹#›</a:t>
            </a:fld>
            <a:endParaRPr lang="ru-RU"/>
          </a:p>
        </p:txBody>
      </p:sp>
    </p:spTree>
    <p:extLst>
      <p:ext uri="{BB962C8B-B14F-4D97-AF65-F5344CB8AC3E}">
        <p14:creationId xmlns:p14="http://schemas.microsoft.com/office/powerpoint/2010/main" val="2446001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D9E06-B80D-4BB6-BEA3-112FB6A7AE15}"/>
              </a:ext>
            </a:extLst>
          </p:cNvPr>
          <p:cNvSpPr>
            <a:spLocks noGrp="1"/>
          </p:cNvSpPr>
          <p:nvPr>
            <p:ph type="title"/>
          </p:nvPr>
        </p:nvSpPr>
        <p:spPr/>
        <p:txBody>
          <a:bodyPr/>
          <a:lstStyle/>
          <a:p>
            <a:r>
              <a:rPr lang="en-US"/>
              <a:t>Click to edit Master title style</a:t>
            </a:r>
            <a:endParaRPr lang="ru-RU"/>
          </a:p>
        </p:txBody>
      </p:sp>
      <p:sp>
        <p:nvSpPr>
          <p:cNvPr id="3" name="Date Placeholder 2">
            <a:extLst>
              <a:ext uri="{FF2B5EF4-FFF2-40B4-BE49-F238E27FC236}">
                <a16:creationId xmlns:a16="http://schemas.microsoft.com/office/drawing/2014/main" id="{CB77422C-A015-96B3-0A40-80164A766D17}"/>
              </a:ext>
            </a:extLst>
          </p:cNvPr>
          <p:cNvSpPr>
            <a:spLocks noGrp="1"/>
          </p:cNvSpPr>
          <p:nvPr>
            <p:ph type="dt" sz="half" idx="10"/>
          </p:nvPr>
        </p:nvSpPr>
        <p:spPr/>
        <p:txBody>
          <a:bodyPr/>
          <a:lstStyle/>
          <a:p>
            <a:fld id="{9704AAA4-3E46-4BFC-B013-946407404189}" type="datetimeFigureOut">
              <a:rPr lang="ru-RU" smtClean="0"/>
              <a:t>14.07.2026</a:t>
            </a:fld>
            <a:endParaRPr lang="ru-RU"/>
          </a:p>
        </p:txBody>
      </p:sp>
      <p:sp>
        <p:nvSpPr>
          <p:cNvPr id="4" name="Footer Placeholder 3">
            <a:extLst>
              <a:ext uri="{FF2B5EF4-FFF2-40B4-BE49-F238E27FC236}">
                <a16:creationId xmlns:a16="http://schemas.microsoft.com/office/drawing/2014/main" id="{583DF4C4-110A-4590-4E1D-4A8B299606D8}"/>
              </a:ext>
            </a:extLst>
          </p:cNvPr>
          <p:cNvSpPr>
            <a:spLocks noGrp="1"/>
          </p:cNvSpPr>
          <p:nvPr>
            <p:ph type="ftr" sz="quarter" idx="11"/>
          </p:nvPr>
        </p:nvSpPr>
        <p:spPr/>
        <p:txBody>
          <a:bodyPr/>
          <a:lstStyle/>
          <a:p>
            <a:endParaRPr lang="ru-RU"/>
          </a:p>
        </p:txBody>
      </p:sp>
      <p:sp>
        <p:nvSpPr>
          <p:cNvPr id="5" name="Slide Number Placeholder 4">
            <a:extLst>
              <a:ext uri="{FF2B5EF4-FFF2-40B4-BE49-F238E27FC236}">
                <a16:creationId xmlns:a16="http://schemas.microsoft.com/office/drawing/2014/main" id="{ED6EC64A-3B3F-2050-5ED2-D3E1AE7F4F0B}"/>
              </a:ext>
            </a:extLst>
          </p:cNvPr>
          <p:cNvSpPr>
            <a:spLocks noGrp="1"/>
          </p:cNvSpPr>
          <p:nvPr>
            <p:ph type="sldNum" sz="quarter" idx="12"/>
          </p:nvPr>
        </p:nvSpPr>
        <p:spPr/>
        <p:txBody>
          <a:bodyPr/>
          <a:lstStyle/>
          <a:p>
            <a:fld id="{9754CC12-C20D-43B9-8953-73F8ACB1E8DC}" type="slidenum">
              <a:rPr lang="ru-RU" smtClean="0"/>
              <a:t>‹#›</a:t>
            </a:fld>
            <a:endParaRPr lang="ru-RU"/>
          </a:p>
        </p:txBody>
      </p:sp>
    </p:spTree>
    <p:extLst>
      <p:ext uri="{BB962C8B-B14F-4D97-AF65-F5344CB8AC3E}">
        <p14:creationId xmlns:p14="http://schemas.microsoft.com/office/powerpoint/2010/main" val="115598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074A99-1A82-A903-9D31-FA94046B0ADC}"/>
              </a:ext>
            </a:extLst>
          </p:cNvPr>
          <p:cNvSpPr>
            <a:spLocks noGrp="1"/>
          </p:cNvSpPr>
          <p:nvPr>
            <p:ph type="dt" sz="half" idx="10"/>
          </p:nvPr>
        </p:nvSpPr>
        <p:spPr/>
        <p:txBody>
          <a:bodyPr/>
          <a:lstStyle/>
          <a:p>
            <a:fld id="{9704AAA4-3E46-4BFC-B013-946407404189}" type="datetimeFigureOut">
              <a:rPr lang="ru-RU" smtClean="0"/>
              <a:t>14.07.2026</a:t>
            </a:fld>
            <a:endParaRPr lang="ru-RU"/>
          </a:p>
        </p:txBody>
      </p:sp>
      <p:sp>
        <p:nvSpPr>
          <p:cNvPr id="3" name="Footer Placeholder 2">
            <a:extLst>
              <a:ext uri="{FF2B5EF4-FFF2-40B4-BE49-F238E27FC236}">
                <a16:creationId xmlns:a16="http://schemas.microsoft.com/office/drawing/2014/main" id="{84D4A547-7B49-BAB0-2301-019FC06BB1AF}"/>
              </a:ext>
            </a:extLst>
          </p:cNvPr>
          <p:cNvSpPr>
            <a:spLocks noGrp="1"/>
          </p:cNvSpPr>
          <p:nvPr>
            <p:ph type="ftr" sz="quarter" idx="11"/>
          </p:nvPr>
        </p:nvSpPr>
        <p:spPr/>
        <p:txBody>
          <a:bodyPr/>
          <a:lstStyle/>
          <a:p>
            <a:endParaRPr lang="ru-RU"/>
          </a:p>
        </p:txBody>
      </p:sp>
      <p:sp>
        <p:nvSpPr>
          <p:cNvPr id="4" name="Slide Number Placeholder 3">
            <a:extLst>
              <a:ext uri="{FF2B5EF4-FFF2-40B4-BE49-F238E27FC236}">
                <a16:creationId xmlns:a16="http://schemas.microsoft.com/office/drawing/2014/main" id="{27FBB65F-F101-3428-5FDE-83A05834BA00}"/>
              </a:ext>
            </a:extLst>
          </p:cNvPr>
          <p:cNvSpPr>
            <a:spLocks noGrp="1"/>
          </p:cNvSpPr>
          <p:nvPr>
            <p:ph type="sldNum" sz="quarter" idx="12"/>
          </p:nvPr>
        </p:nvSpPr>
        <p:spPr/>
        <p:txBody>
          <a:bodyPr/>
          <a:lstStyle/>
          <a:p>
            <a:fld id="{9754CC12-C20D-43B9-8953-73F8ACB1E8DC}" type="slidenum">
              <a:rPr lang="ru-RU" smtClean="0"/>
              <a:t>‹#›</a:t>
            </a:fld>
            <a:endParaRPr lang="ru-RU"/>
          </a:p>
        </p:txBody>
      </p:sp>
    </p:spTree>
    <p:extLst>
      <p:ext uri="{BB962C8B-B14F-4D97-AF65-F5344CB8AC3E}">
        <p14:creationId xmlns:p14="http://schemas.microsoft.com/office/powerpoint/2010/main" val="192165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1A355-C716-DF13-7BC2-729F21B5F6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Content Placeholder 2">
            <a:extLst>
              <a:ext uri="{FF2B5EF4-FFF2-40B4-BE49-F238E27FC236}">
                <a16:creationId xmlns:a16="http://schemas.microsoft.com/office/drawing/2014/main" id="{6651AC52-1ECD-6ED4-38B6-644E2E9FC2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Text Placeholder 3">
            <a:extLst>
              <a:ext uri="{FF2B5EF4-FFF2-40B4-BE49-F238E27FC236}">
                <a16:creationId xmlns:a16="http://schemas.microsoft.com/office/drawing/2014/main" id="{0AB8120F-97C2-F62A-40DD-CECB9D247A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AD5B4C-30EF-CC2F-DD5A-D0DF12FBDB00}"/>
              </a:ext>
            </a:extLst>
          </p:cNvPr>
          <p:cNvSpPr>
            <a:spLocks noGrp="1"/>
          </p:cNvSpPr>
          <p:nvPr>
            <p:ph type="dt" sz="half" idx="10"/>
          </p:nvPr>
        </p:nvSpPr>
        <p:spPr/>
        <p:txBody>
          <a:bodyPr/>
          <a:lstStyle/>
          <a:p>
            <a:fld id="{9704AAA4-3E46-4BFC-B013-946407404189}" type="datetimeFigureOut">
              <a:rPr lang="ru-RU" smtClean="0"/>
              <a:t>14.07.2026</a:t>
            </a:fld>
            <a:endParaRPr lang="ru-RU"/>
          </a:p>
        </p:txBody>
      </p:sp>
      <p:sp>
        <p:nvSpPr>
          <p:cNvPr id="6" name="Footer Placeholder 5">
            <a:extLst>
              <a:ext uri="{FF2B5EF4-FFF2-40B4-BE49-F238E27FC236}">
                <a16:creationId xmlns:a16="http://schemas.microsoft.com/office/drawing/2014/main" id="{FF327E35-134C-5224-00F2-7ED086F8848A}"/>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55FCA057-D64C-4DE1-DB3A-4FAB0BF8C546}"/>
              </a:ext>
            </a:extLst>
          </p:cNvPr>
          <p:cNvSpPr>
            <a:spLocks noGrp="1"/>
          </p:cNvSpPr>
          <p:nvPr>
            <p:ph type="sldNum" sz="quarter" idx="12"/>
          </p:nvPr>
        </p:nvSpPr>
        <p:spPr/>
        <p:txBody>
          <a:bodyPr/>
          <a:lstStyle/>
          <a:p>
            <a:fld id="{9754CC12-C20D-43B9-8953-73F8ACB1E8DC}" type="slidenum">
              <a:rPr lang="ru-RU" smtClean="0"/>
              <a:t>‹#›</a:t>
            </a:fld>
            <a:endParaRPr lang="ru-RU"/>
          </a:p>
        </p:txBody>
      </p:sp>
    </p:spTree>
    <p:extLst>
      <p:ext uri="{BB962C8B-B14F-4D97-AF65-F5344CB8AC3E}">
        <p14:creationId xmlns:p14="http://schemas.microsoft.com/office/powerpoint/2010/main" val="588973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AC613-B610-734D-1008-C841C0F3B1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Picture Placeholder 2">
            <a:extLst>
              <a:ext uri="{FF2B5EF4-FFF2-40B4-BE49-F238E27FC236}">
                <a16:creationId xmlns:a16="http://schemas.microsoft.com/office/drawing/2014/main" id="{3BDA4AC0-3DEA-83CB-B228-A262312CBB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a:extLst>
              <a:ext uri="{FF2B5EF4-FFF2-40B4-BE49-F238E27FC236}">
                <a16:creationId xmlns:a16="http://schemas.microsoft.com/office/drawing/2014/main" id="{1183806A-B957-04FD-CA67-5D63D296C0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2777B8-45A8-87F7-247C-41CEEE5C9E1B}"/>
              </a:ext>
            </a:extLst>
          </p:cNvPr>
          <p:cNvSpPr>
            <a:spLocks noGrp="1"/>
          </p:cNvSpPr>
          <p:nvPr>
            <p:ph type="dt" sz="half" idx="10"/>
          </p:nvPr>
        </p:nvSpPr>
        <p:spPr/>
        <p:txBody>
          <a:bodyPr/>
          <a:lstStyle/>
          <a:p>
            <a:fld id="{9704AAA4-3E46-4BFC-B013-946407404189}" type="datetimeFigureOut">
              <a:rPr lang="ru-RU" smtClean="0"/>
              <a:t>14.07.2026</a:t>
            </a:fld>
            <a:endParaRPr lang="ru-RU"/>
          </a:p>
        </p:txBody>
      </p:sp>
      <p:sp>
        <p:nvSpPr>
          <p:cNvPr id="6" name="Footer Placeholder 5">
            <a:extLst>
              <a:ext uri="{FF2B5EF4-FFF2-40B4-BE49-F238E27FC236}">
                <a16:creationId xmlns:a16="http://schemas.microsoft.com/office/drawing/2014/main" id="{7E50E329-B792-9147-9A36-FB2DCC2FC2A2}"/>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C4016E57-B009-5E92-5F0E-A7F27E417731}"/>
              </a:ext>
            </a:extLst>
          </p:cNvPr>
          <p:cNvSpPr>
            <a:spLocks noGrp="1"/>
          </p:cNvSpPr>
          <p:nvPr>
            <p:ph type="sldNum" sz="quarter" idx="12"/>
          </p:nvPr>
        </p:nvSpPr>
        <p:spPr/>
        <p:txBody>
          <a:bodyPr/>
          <a:lstStyle/>
          <a:p>
            <a:fld id="{9754CC12-C20D-43B9-8953-73F8ACB1E8DC}" type="slidenum">
              <a:rPr lang="ru-RU" smtClean="0"/>
              <a:t>‹#›</a:t>
            </a:fld>
            <a:endParaRPr lang="ru-RU"/>
          </a:p>
        </p:txBody>
      </p:sp>
    </p:spTree>
    <p:extLst>
      <p:ext uri="{BB962C8B-B14F-4D97-AF65-F5344CB8AC3E}">
        <p14:creationId xmlns:p14="http://schemas.microsoft.com/office/powerpoint/2010/main" val="1844619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39093-97C9-5049-418B-2E58332A9A7E}"/>
              </a:ext>
            </a:extLst>
          </p:cNvPr>
          <p:cNvSpPr>
            <a:spLocks noGrp="1"/>
          </p:cNvSpPr>
          <p:nvPr>
            <p:ph type="title"/>
          </p:nvPr>
        </p:nvSpPr>
        <p:spPr/>
        <p:txBody>
          <a:bodyPr/>
          <a:lstStyle/>
          <a:p>
            <a:r>
              <a:rPr lang="en-US"/>
              <a:t>Click to edit Master title style</a:t>
            </a:r>
            <a:endParaRPr lang="ru-RU"/>
          </a:p>
        </p:txBody>
      </p:sp>
      <p:sp>
        <p:nvSpPr>
          <p:cNvPr id="3" name="Vertical Text Placeholder 2">
            <a:extLst>
              <a:ext uri="{FF2B5EF4-FFF2-40B4-BE49-F238E27FC236}">
                <a16:creationId xmlns:a16="http://schemas.microsoft.com/office/drawing/2014/main" id="{34F33A6F-4747-A6C1-CEE2-29CFC4269B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5E79E173-311B-F0C1-2FEC-E5485FCC1950}"/>
              </a:ext>
            </a:extLst>
          </p:cNvPr>
          <p:cNvSpPr>
            <a:spLocks noGrp="1"/>
          </p:cNvSpPr>
          <p:nvPr>
            <p:ph type="dt" sz="half" idx="10"/>
          </p:nvPr>
        </p:nvSpPr>
        <p:spPr/>
        <p:txBody>
          <a:bodyPr/>
          <a:lstStyle/>
          <a:p>
            <a:fld id="{9704AAA4-3E46-4BFC-B013-946407404189}" type="datetimeFigureOut">
              <a:rPr lang="ru-RU" smtClean="0"/>
              <a:t>14.07.2026</a:t>
            </a:fld>
            <a:endParaRPr lang="ru-RU"/>
          </a:p>
        </p:txBody>
      </p:sp>
      <p:sp>
        <p:nvSpPr>
          <p:cNvPr id="5" name="Footer Placeholder 4">
            <a:extLst>
              <a:ext uri="{FF2B5EF4-FFF2-40B4-BE49-F238E27FC236}">
                <a16:creationId xmlns:a16="http://schemas.microsoft.com/office/drawing/2014/main" id="{EEC397F7-A9F6-6C30-07FB-A3999B0AC96E}"/>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92699202-0912-3D06-2F66-B8F369CF1143}"/>
              </a:ext>
            </a:extLst>
          </p:cNvPr>
          <p:cNvSpPr>
            <a:spLocks noGrp="1"/>
          </p:cNvSpPr>
          <p:nvPr>
            <p:ph type="sldNum" sz="quarter" idx="12"/>
          </p:nvPr>
        </p:nvSpPr>
        <p:spPr/>
        <p:txBody>
          <a:bodyPr/>
          <a:lstStyle/>
          <a:p>
            <a:fld id="{9754CC12-C20D-43B9-8953-73F8ACB1E8DC}" type="slidenum">
              <a:rPr lang="ru-RU" smtClean="0"/>
              <a:t>‹#›</a:t>
            </a:fld>
            <a:endParaRPr lang="ru-RU"/>
          </a:p>
        </p:txBody>
      </p:sp>
    </p:spTree>
    <p:extLst>
      <p:ext uri="{BB962C8B-B14F-4D97-AF65-F5344CB8AC3E}">
        <p14:creationId xmlns:p14="http://schemas.microsoft.com/office/powerpoint/2010/main" val="1721360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6C9FE5-4826-3BE8-7799-6FF7E8DA700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ru-RU"/>
          </a:p>
        </p:txBody>
      </p:sp>
      <p:sp>
        <p:nvSpPr>
          <p:cNvPr id="3" name="Vertical Text Placeholder 2">
            <a:extLst>
              <a:ext uri="{FF2B5EF4-FFF2-40B4-BE49-F238E27FC236}">
                <a16:creationId xmlns:a16="http://schemas.microsoft.com/office/drawing/2014/main" id="{DB73C790-A159-609C-848A-DC9FA6BFC3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F49302DD-136D-2BF9-551A-15C26EA8E6DE}"/>
              </a:ext>
            </a:extLst>
          </p:cNvPr>
          <p:cNvSpPr>
            <a:spLocks noGrp="1"/>
          </p:cNvSpPr>
          <p:nvPr>
            <p:ph type="dt" sz="half" idx="10"/>
          </p:nvPr>
        </p:nvSpPr>
        <p:spPr/>
        <p:txBody>
          <a:bodyPr/>
          <a:lstStyle/>
          <a:p>
            <a:fld id="{9704AAA4-3E46-4BFC-B013-946407404189}" type="datetimeFigureOut">
              <a:rPr lang="ru-RU" smtClean="0"/>
              <a:t>14.07.2026</a:t>
            </a:fld>
            <a:endParaRPr lang="ru-RU"/>
          </a:p>
        </p:txBody>
      </p:sp>
      <p:sp>
        <p:nvSpPr>
          <p:cNvPr id="5" name="Footer Placeholder 4">
            <a:extLst>
              <a:ext uri="{FF2B5EF4-FFF2-40B4-BE49-F238E27FC236}">
                <a16:creationId xmlns:a16="http://schemas.microsoft.com/office/drawing/2014/main" id="{7F2303AB-F50A-07D5-FC02-22141679CABD}"/>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524B2991-7C1E-56D5-5C45-C52C5BD3449D}"/>
              </a:ext>
            </a:extLst>
          </p:cNvPr>
          <p:cNvSpPr>
            <a:spLocks noGrp="1"/>
          </p:cNvSpPr>
          <p:nvPr>
            <p:ph type="sldNum" sz="quarter" idx="12"/>
          </p:nvPr>
        </p:nvSpPr>
        <p:spPr/>
        <p:txBody>
          <a:bodyPr/>
          <a:lstStyle/>
          <a:p>
            <a:fld id="{9754CC12-C20D-43B9-8953-73F8ACB1E8DC}" type="slidenum">
              <a:rPr lang="ru-RU" smtClean="0"/>
              <a:t>‹#›</a:t>
            </a:fld>
            <a:endParaRPr lang="ru-RU"/>
          </a:p>
        </p:txBody>
      </p:sp>
    </p:spTree>
    <p:extLst>
      <p:ext uri="{BB962C8B-B14F-4D97-AF65-F5344CB8AC3E}">
        <p14:creationId xmlns:p14="http://schemas.microsoft.com/office/powerpoint/2010/main" val="37364467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ED8528-9318-A430-FB59-F6DE63DC5B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ru-RU"/>
          </a:p>
        </p:txBody>
      </p:sp>
      <p:sp>
        <p:nvSpPr>
          <p:cNvPr id="3" name="Text Placeholder 2">
            <a:extLst>
              <a:ext uri="{FF2B5EF4-FFF2-40B4-BE49-F238E27FC236}">
                <a16:creationId xmlns:a16="http://schemas.microsoft.com/office/drawing/2014/main" id="{D8E122AB-DEEE-A464-E871-8FE0AA54EE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76AD1390-7F11-3B7F-7AC5-5B7D368FB7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04AAA4-3E46-4BFC-B013-946407404189}" type="datetimeFigureOut">
              <a:rPr lang="ru-RU" smtClean="0"/>
              <a:t>14.07.2026</a:t>
            </a:fld>
            <a:endParaRPr lang="ru-RU"/>
          </a:p>
        </p:txBody>
      </p:sp>
      <p:sp>
        <p:nvSpPr>
          <p:cNvPr id="5" name="Footer Placeholder 4">
            <a:extLst>
              <a:ext uri="{FF2B5EF4-FFF2-40B4-BE49-F238E27FC236}">
                <a16:creationId xmlns:a16="http://schemas.microsoft.com/office/drawing/2014/main" id="{A24E6D76-7558-29B4-CA9D-5239F6B922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a:extLst>
              <a:ext uri="{FF2B5EF4-FFF2-40B4-BE49-F238E27FC236}">
                <a16:creationId xmlns:a16="http://schemas.microsoft.com/office/drawing/2014/main" id="{C37B6C46-5318-A682-0022-083E053955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54CC12-C20D-43B9-8953-73F8ACB1E8DC}" type="slidenum">
              <a:rPr lang="ru-RU" smtClean="0"/>
              <a:t>‹#›</a:t>
            </a:fld>
            <a:endParaRPr lang="ru-RU"/>
          </a:p>
        </p:txBody>
      </p:sp>
    </p:spTree>
    <p:extLst>
      <p:ext uri="{BB962C8B-B14F-4D97-AF65-F5344CB8AC3E}">
        <p14:creationId xmlns:p14="http://schemas.microsoft.com/office/powerpoint/2010/main" val="10863806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32DD4D8-2256-C78A-5020-C4E680558C6A}"/>
              </a:ext>
            </a:extLst>
          </p:cNvPr>
          <p:cNvSpPr>
            <a:spLocks noGrp="1"/>
          </p:cNvSpPr>
          <p:nvPr>
            <p:ph type="title"/>
          </p:nvPr>
        </p:nvSpPr>
        <p:spPr/>
        <p:txBody>
          <a:bodyPr>
            <a:normAutofit/>
          </a:bodyPr>
          <a:lstStyle/>
          <a:p>
            <a:r>
              <a:rPr lang="en-US" sz="2400" b="1" dirty="0"/>
              <a:t>1.1 TASK 1: USE INHERITANCE </a:t>
            </a:r>
            <a:endParaRPr lang="ru-RU" sz="2400" dirty="0"/>
          </a:p>
        </p:txBody>
      </p:sp>
      <p:sp>
        <p:nvSpPr>
          <p:cNvPr id="10" name="Content Placeholder 9">
            <a:extLst>
              <a:ext uri="{FF2B5EF4-FFF2-40B4-BE49-F238E27FC236}">
                <a16:creationId xmlns:a16="http://schemas.microsoft.com/office/drawing/2014/main" id="{556C585F-3A8F-B7D2-2FFB-C6D5C4B59FE9}"/>
              </a:ext>
            </a:extLst>
          </p:cNvPr>
          <p:cNvSpPr>
            <a:spLocks noGrp="1"/>
          </p:cNvSpPr>
          <p:nvPr>
            <p:ph sz="half" idx="1"/>
          </p:nvPr>
        </p:nvSpPr>
        <p:spPr>
          <a:xfrm>
            <a:off x="263951" y="1825625"/>
            <a:ext cx="5241303" cy="4773138"/>
          </a:xfrm>
        </p:spPr>
        <p:txBody>
          <a:bodyPr>
            <a:normAutofit/>
          </a:bodyPr>
          <a:lstStyle/>
          <a:p>
            <a:pPr marL="0" indent="0">
              <a:buNone/>
            </a:pPr>
            <a:r>
              <a:rPr lang="en-US" sz="2000" dirty="0"/>
              <a:t>PostgreSQL uses an Append node to combine data from all inherited partitions. Because no WHERE condition is specified, a sequential scan is performed on every partition. The query finishes with an execution time of about 0.48 </a:t>
            </a:r>
            <a:r>
              <a:rPr lang="en-US" sz="2000" dirty="0" err="1"/>
              <a:t>ms.</a:t>
            </a:r>
            <a:endParaRPr lang="ru-RU" sz="2000" dirty="0"/>
          </a:p>
        </p:txBody>
      </p:sp>
      <p:pic>
        <p:nvPicPr>
          <p:cNvPr id="13" name="Content Placeholder 12">
            <a:extLst>
              <a:ext uri="{FF2B5EF4-FFF2-40B4-BE49-F238E27FC236}">
                <a16:creationId xmlns:a16="http://schemas.microsoft.com/office/drawing/2014/main" id="{082B257E-CDFE-2EB3-8111-F422DF69B4D4}"/>
              </a:ext>
            </a:extLst>
          </p:cNvPr>
          <p:cNvPicPr>
            <a:picLocks noGrp="1" noChangeAspect="1"/>
          </p:cNvPicPr>
          <p:nvPr>
            <p:ph sz="half" idx="2"/>
          </p:nvPr>
        </p:nvPicPr>
        <p:blipFill>
          <a:blip r:embed="rId2"/>
          <a:stretch>
            <a:fillRect/>
          </a:stretch>
        </p:blipFill>
        <p:spPr>
          <a:xfrm>
            <a:off x="5740925" y="1404594"/>
            <a:ext cx="6344238" cy="5088281"/>
          </a:xfrm>
          <a:prstGeom prst="rect">
            <a:avLst/>
          </a:prstGeom>
        </p:spPr>
      </p:pic>
    </p:spTree>
    <p:extLst>
      <p:ext uri="{BB962C8B-B14F-4D97-AF65-F5344CB8AC3E}">
        <p14:creationId xmlns:p14="http://schemas.microsoft.com/office/powerpoint/2010/main" val="348879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086484-08CE-7AED-252A-313FEBC2BB14}"/>
              </a:ext>
            </a:extLst>
          </p:cNvPr>
          <p:cNvSpPr>
            <a:spLocks noGrp="1"/>
          </p:cNvSpPr>
          <p:nvPr>
            <p:ph sz="half" idx="1"/>
          </p:nvPr>
        </p:nvSpPr>
        <p:spPr>
          <a:xfrm>
            <a:off x="838200" y="1102936"/>
            <a:ext cx="5181600" cy="5074027"/>
          </a:xfrm>
        </p:spPr>
        <p:txBody>
          <a:bodyPr>
            <a:normAutofit/>
          </a:bodyPr>
          <a:lstStyle/>
          <a:p>
            <a:pPr marL="0" indent="0">
              <a:buNone/>
            </a:pPr>
            <a:r>
              <a:rPr lang="en-US" sz="2000" dirty="0"/>
              <a:t>Unlike the partitioned table, </a:t>
            </a:r>
            <a:r>
              <a:rPr lang="en-US" sz="2000" dirty="0" err="1"/>
              <a:t>sales_info_simple</a:t>
            </a:r>
            <a:r>
              <a:rPr lang="en-US" sz="2000" dirty="0"/>
              <a:t> uses a single Sequential Scan because there are no partitions to combine. PostgreSQL reads only one table instead of performing an Append operation over multiple child tables.</a:t>
            </a:r>
            <a:endParaRPr lang="ru-RU" sz="2000" dirty="0"/>
          </a:p>
        </p:txBody>
      </p:sp>
      <p:pic>
        <p:nvPicPr>
          <p:cNvPr id="6" name="Content Placeholder 5">
            <a:extLst>
              <a:ext uri="{FF2B5EF4-FFF2-40B4-BE49-F238E27FC236}">
                <a16:creationId xmlns:a16="http://schemas.microsoft.com/office/drawing/2014/main" id="{16613646-322B-CBCE-682A-33332856AD6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2" y="1102936"/>
            <a:ext cx="5715000" cy="5627802"/>
          </a:xfrm>
        </p:spPr>
      </p:pic>
    </p:spTree>
    <p:extLst>
      <p:ext uri="{BB962C8B-B14F-4D97-AF65-F5344CB8AC3E}">
        <p14:creationId xmlns:p14="http://schemas.microsoft.com/office/powerpoint/2010/main" val="1082453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6FEDE4-9318-2CA8-A2E0-0FCBB53B5AFB}"/>
              </a:ext>
            </a:extLst>
          </p:cNvPr>
          <p:cNvSpPr>
            <a:spLocks noGrp="1"/>
          </p:cNvSpPr>
          <p:nvPr>
            <p:ph sz="half" idx="1"/>
          </p:nvPr>
        </p:nvSpPr>
        <p:spPr/>
        <p:txBody>
          <a:bodyPr>
            <a:normAutofit/>
          </a:bodyPr>
          <a:lstStyle/>
          <a:p>
            <a:r>
              <a:rPr lang="en-US" sz="2400" dirty="0"/>
              <a:t>The execution plan shows a Sequential Scan with a date filter. PostgreSQL reads only the partition containing data for the specified date range, demonstrating partition pruning, which improves query performance. The execution time is approximately 0.09 </a:t>
            </a:r>
            <a:r>
              <a:rPr lang="en-US" sz="2400" dirty="0" err="1"/>
              <a:t>ms.</a:t>
            </a:r>
            <a:endParaRPr lang="ru-RU" sz="2400" dirty="0"/>
          </a:p>
        </p:txBody>
      </p:sp>
      <p:pic>
        <p:nvPicPr>
          <p:cNvPr id="6" name="Content Placeholder 5">
            <a:extLst>
              <a:ext uri="{FF2B5EF4-FFF2-40B4-BE49-F238E27FC236}">
                <a16:creationId xmlns:a16="http://schemas.microsoft.com/office/drawing/2014/main" id="{F0C36A1B-12C6-E0D6-E578-2D5F0D9D38C2}"/>
              </a:ext>
            </a:extLst>
          </p:cNvPr>
          <p:cNvPicPr>
            <a:picLocks noGrp="1" noChangeAspect="1"/>
          </p:cNvPicPr>
          <p:nvPr>
            <p:ph sz="half" idx="2"/>
          </p:nvPr>
        </p:nvPicPr>
        <p:blipFill>
          <a:blip r:embed="rId2"/>
          <a:stretch>
            <a:fillRect/>
          </a:stretch>
        </p:blipFill>
        <p:spPr>
          <a:xfrm>
            <a:off x="5810032" y="1451728"/>
            <a:ext cx="5543768" cy="4725235"/>
          </a:xfrm>
          <a:prstGeom prst="rect">
            <a:avLst/>
          </a:prstGeom>
        </p:spPr>
      </p:pic>
    </p:spTree>
    <p:extLst>
      <p:ext uri="{BB962C8B-B14F-4D97-AF65-F5344CB8AC3E}">
        <p14:creationId xmlns:p14="http://schemas.microsoft.com/office/powerpoint/2010/main" val="2179686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8BC43D-19D6-965C-054D-1102334B2197}"/>
              </a:ext>
            </a:extLst>
          </p:cNvPr>
          <p:cNvSpPr>
            <a:spLocks noGrp="1"/>
          </p:cNvSpPr>
          <p:nvPr>
            <p:ph sz="half" idx="1"/>
          </p:nvPr>
        </p:nvSpPr>
        <p:spPr/>
        <p:txBody>
          <a:bodyPr/>
          <a:lstStyle/>
          <a:p>
            <a:r>
              <a:rPr lang="en-US" sz="2400" dirty="0"/>
              <a:t>Unlike the partitioned table, </a:t>
            </a:r>
            <a:r>
              <a:rPr lang="en-US" sz="2400" dirty="0" err="1"/>
              <a:t>sales_info_simple</a:t>
            </a:r>
            <a:r>
              <a:rPr lang="en-US" sz="2400" dirty="0"/>
              <a:t> has no partitions, so PostgreSQL performs a Sequential Scan on the entire table and then applies the date filter. No partition pruning is possible because all data is stored in a single table.</a:t>
            </a:r>
            <a:endParaRPr lang="ru-RU" sz="2400" dirty="0"/>
          </a:p>
        </p:txBody>
      </p:sp>
      <p:pic>
        <p:nvPicPr>
          <p:cNvPr id="6" name="Content Placeholder 5">
            <a:extLst>
              <a:ext uri="{FF2B5EF4-FFF2-40B4-BE49-F238E27FC236}">
                <a16:creationId xmlns:a16="http://schemas.microsoft.com/office/drawing/2014/main" id="{3238DD32-8463-534B-1BEF-792E1DABEBDC}"/>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199" y="970961"/>
            <a:ext cx="5899771" cy="4873658"/>
          </a:xfrm>
        </p:spPr>
      </p:pic>
    </p:spTree>
    <p:extLst>
      <p:ext uri="{BB962C8B-B14F-4D97-AF65-F5344CB8AC3E}">
        <p14:creationId xmlns:p14="http://schemas.microsoft.com/office/powerpoint/2010/main" val="855478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5D2B3E-C4FE-1312-A401-C3182B4B512B}"/>
              </a:ext>
            </a:extLst>
          </p:cNvPr>
          <p:cNvSpPr>
            <a:spLocks noGrp="1"/>
          </p:cNvSpPr>
          <p:nvPr>
            <p:ph sz="half" idx="1"/>
          </p:nvPr>
        </p:nvSpPr>
        <p:spPr/>
        <p:txBody>
          <a:bodyPr>
            <a:normAutofit/>
          </a:bodyPr>
          <a:lstStyle/>
          <a:p>
            <a:r>
              <a:rPr lang="en-US" sz="2000" dirty="0"/>
              <a:t>The execution plan shows a Sequential Scan with an exact date filter. PostgreSQL scans only the relevant partition for the specified date, demonstrating partition pruning and reducing unnecessary data scanning. Execution time is about 0.04 </a:t>
            </a:r>
            <a:r>
              <a:rPr lang="en-US" sz="2000" dirty="0" err="1"/>
              <a:t>ms.</a:t>
            </a:r>
            <a:endParaRPr lang="ru-RU" sz="2000" dirty="0"/>
          </a:p>
        </p:txBody>
      </p:sp>
      <p:pic>
        <p:nvPicPr>
          <p:cNvPr id="6" name="Content Placeholder 5">
            <a:extLst>
              <a:ext uri="{FF2B5EF4-FFF2-40B4-BE49-F238E27FC236}">
                <a16:creationId xmlns:a16="http://schemas.microsoft.com/office/drawing/2014/main" id="{A26088DD-95D2-2C99-CBAC-EC6CF841D1E8}"/>
              </a:ext>
            </a:extLst>
          </p:cNvPr>
          <p:cNvPicPr>
            <a:picLocks noGrp="1" noChangeAspect="1"/>
          </p:cNvPicPr>
          <p:nvPr>
            <p:ph sz="half" idx="2"/>
          </p:nvPr>
        </p:nvPicPr>
        <p:blipFill>
          <a:blip r:embed="rId2"/>
          <a:stretch>
            <a:fillRect/>
          </a:stretch>
        </p:blipFill>
        <p:spPr>
          <a:xfrm>
            <a:off x="5867232" y="603315"/>
            <a:ext cx="6001114" cy="4854805"/>
          </a:xfrm>
          <a:prstGeom prst="rect">
            <a:avLst/>
          </a:prstGeom>
        </p:spPr>
      </p:pic>
    </p:spTree>
    <p:extLst>
      <p:ext uri="{BB962C8B-B14F-4D97-AF65-F5344CB8AC3E}">
        <p14:creationId xmlns:p14="http://schemas.microsoft.com/office/powerpoint/2010/main" val="1685123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9E46B4-B26A-CEF5-DC47-E9400280D2A6}"/>
              </a:ext>
            </a:extLst>
          </p:cNvPr>
          <p:cNvSpPr>
            <a:spLocks noGrp="1"/>
          </p:cNvSpPr>
          <p:nvPr>
            <p:ph sz="half" idx="1"/>
          </p:nvPr>
        </p:nvSpPr>
        <p:spPr/>
        <p:txBody>
          <a:bodyPr/>
          <a:lstStyle/>
          <a:p>
            <a:r>
              <a:rPr lang="en-US" sz="2000" dirty="0"/>
              <a:t>The execution plan shows a Sequential Scan on the non-partitioned table with an exact date filter. Unlike the partitioned table, PostgreSQL cannot use partition pruning, so it searches the whole table before returning the matching rows. The execution time is about 0.07 </a:t>
            </a:r>
            <a:r>
              <a:rPr lang="en-US" sz="2000" dirty="0" err="1"/>
              <a:t>ms.</a:t>
            </a:r>
            <a:endParaRPr lang="ru-RU" sz="2000" dirty="0"/>
          </a:p>
        </p:txBody>
      </p:sp>
      <p:pic>
        <p:nvPicPr>
          <p:cNvPr id="6" name="Content Placeholder 5">
            <a:extLst>
              <a:ext uri="{FF2B5EF4-FFF2-40B4-BE49-F238E27FC236}">
                <a16:creationId xmlns:a16="http://schemas.microsoft.com/office/drawing/2014/main" id="{572DE98A-38C3-5E51-A0C5-E1B576CCE9B5}"/>
              </a:ext>
            </a:extLst>
          </p:cNvPr>
          <p:cNvPicPr>
            <a:picLocks noGrp="1" noChangeAspect="1"/>
          </p:cNvPicPr>
          <p:nvPr>
            <p:ph sz="half" idx="2"/>
          </p:nvPr>
        </p:nvPicPr>
        <p:blipFill>
          <a:blip r:embed="rId2"/>
          <a:stretch>
            <a:fillRect/>
          </a:stretch>
        </p:blipFill>
        <p:spPr>
          <a:xfrm>
            <a:off x="6172200" y="837141"/>
            <a:ext cx="5667866" cy="5339822"/>
          </a:xfrm>
          <a:prstGeom prst="rect">
            <a:avLst/>
          </a:prstGeom>
        </p:spPr>
      </p:pic>
    </p:spTree>
    <p:extLst>
      <p:ext uri="{BB962C8B-B14F-4D97-AF65-F5344CB8AC3E}">
        <p14:creationId xmlns:p14="http://schemas.microsoft.com/office/powerpoint/2010/main" val="4069284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CCA3D5-7A92-E78E-00B0-C15C92FF59CA}"/>
              </a:ext>
            </a:extLst>
          </p:cNvPr>
          <p:cNvSpPr>
            <a:spLocks noGrp="1"/>
          </p:cNvSpPr>
          <p:nvPr>
            <p:ph sz="half" idx="1"/>
          </p:nvPr>
        </p:nvSpPr>
        <p:spPr>
          <a:xfrm>
            <a:off x="838200" y="1825625"/>
            <a:ext cx="4770748" cy="4351338"/>
          </a:xfrm>
        </p:spPr>
        <p:txBody>
          <a:bodyPr/>
          <a:lstStyle/>
          <a:p>
            <a:r>
              <a:rPr lang="en-US" sz="2000" dirty="0"/>
              <a:t>The execution plan uses an Aggregate node to calculate COUNT(*). PostgreSQL scans all partitions using an Append operation because the query counts every row in the partitioned table. The execution time is about 0.37 </a:t>
            </a:r>
            <a:r>
              <a:rPr lang="en-US" sz="2000" dirty="0" err="1"/>
              <a:t>ms.</a:t>
            </a:r>
            <a:endParaRPr lang="ru-RU" sz="2000" dirty="0"/>
          </a:p>
        </p:txBody>
      </p:sp>
      <p:pic>
        <p:nvPicPr>
          <p:cNvPr id="6" name="Content Placeholder 5">
            <a:extLst>
              <a:ext uri="{FF2B5EF4-FFF2-40B4-BE49-F238E27FC236}">
                <a16:creationId xmlns:a16="http://schemas.microsoft.com/office/drawing/2014/main" id="{4E8AF853-6835-9A5C-4FD8-4D7726B34336}"/>
              </a:ext>
            </a:extLst>
          </p:cNvPr>
          <p:cNvPicPr>
            <a:picLocks noGrp="1" noChangeAspect="1"/>
          </p:cNvPicPr>
          <p:nvPr>
            <p:ph sz="half" idx="2"/>
          </p:nvPr>
        </p:nvPicPr>
        <p:blipFill>
          <a:blip r:embed="rId2"/>
          <a:stretch>
            <a:fillRect/>
          </a:stretch>
        </p:blipFill>
        <p:spPr>
          <a:xfrm>
            <a:off x="5495827" y="226243"/>
            <a:ext cx="5857975" cy="6108569"/>
          </a:xfrm>
          <a:prstGeom prst="rect">
            <a:avLst/>
          </a:prstGeom>
        </p:spPr>
      </p:pic>
    </p:spTree>
    <p:extLst>
      <p:ext uri="{BB962C8B-B14F-4D97-AF65-F5344CB8AC3E}">
        <p14:creationId xmlns:p14="http://schemas.microsoft.com/office/powerpoint/2010/main" val="1966759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99F25F-66DA-5FD5-8582-8175EC64F9CB}"/>
              </a:ext>
            </a:extLst>
          </p:cNvPr>
          <p:cNvSpPr>
            <a:spLocks noGrp="1"/>
          </p:cNvSpPr>
          <p:nvPr>
            <p:ph sz="half" idx="1"/>
          </p:nvPr>
        </p:nvSpPr>
        <p:spPr>
          <a:xfrm>
            <a:off x="838200" y="801278"/>
            <a:ext cx="3616620" cy="5375685"/>
          </a:xfrm>
        </p:spPr>
        <p:txBody>
          <a:bodyPr/>
          <a:lstStyle/>
          <a:p>
            <a:pPr marL="0" indent="0">
              <a:buNone/>
            </a:pPr>
            <a:r>
              <a:rPr lang="en-US" sz="2000" dirty="0"/>
              <a:t>The execution plan uses an Aggregate node to calculate the total row count. Unlike the partitioned table, PostgreSQL scans only the single </a:t>
            </a:r>
            <a:r>
              <a:rPr lang="en-US" sz="2000" dirty="0" err="1"/>
              <a:t>sales_info_simple</a:t>
            </a:r>
            <a:r>
              <a:rPr lang="en-US" sz="2000" dirty="0"/>
              <a:t> table because there are no partitions to combine. The execution time is about 0.09 </a:t>
            </a:r>
            <a:r>
              <a:rPr lang="en-US" sz="2000" dirty="0" err="1"/>
              <a:t>ms.</a:t>
            </a:r>
            <a:endParaRPr lang="ru-RU" sz="2000" dirty="0"/>
          </a:p>
        </p:txBody>
      </p:sp>
      <p:pic>
        <p:nvPicPr>
          <p:cNvPr id="6" name="Content Placeholder 5">
            <a:extLst>
              <a:ext uri="{FF2B5EF4-FFF2-40B4-BE49-F238E27FC236}">
                <a16:creationId xmlns:a16="http://schemas.microsoft.com/office/drawing/2014/main" id="{0BA294FA-0E71-A959-506B-B93C728DD67F}"/>
              </a:ext>
            </a:extLst>
          </p:cNvPr>
          <p:cNvPicPr>
            <a:picLocks noGrp="1" noChangeAspect="1"/>
          </p:cNvPicPr>
          <p:nvPr>
            <p:ph sz="half" idx="2"/>
          </p:nvPr>
        </p:nvPicPr>
        <p:blipFill>
          <a:blip r:embed="rId2"/>
          <a:stretch>
            <a:fillRect/>
          </a:stretch>
        </p:blipFill>
        <p:spPr>
          <a:xfrm>
            <a:off x="4454820" y="801278"/>
            <a:ext cx="7379747" cy="3961663"/>
          </a:xfrm>
          <a:prstGeom prst="rect">
            <a:avLst/>
          </a:prstGeom>
        </p:spPr>
      </p:pic>
    </p:spTree>
    <p:extLst>
      <p:ext uri="{BB962C8B-B14F-4D97-AF65-F5344CB8AC3E}">
        <p14:creationId xmlns:p14="http://schemas.microsoft.com/office/powerpoint/2010/main" val="3537988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F3F844-4861-08E8-1DAC-0E6543BB886B}"/>
              </a:ext>
            </a:extLst>
          </p:cNvPr>
          <p:cNvSpPr>
            <a:spLocks noGrp="1"/>
          </p:cNvSpPr>
          <p:nvPr>
            <p:ph sz="half" idx="1"/>
          </p:nvPr>
        </p:nvSpPr>
        <p:spPr>
          <a:xfrm>
            <a:off x="838200" y="1140643"/>
            <a:ext cx="5181600" cy="5036320"/>
          </a:xfrm>
        </p:spPr>
        <p:txBody>
          <a:bodyPr/>
          <a:lstStyle/>
          <a:p>
            <a:r>
              <a:rPr lang="en-US" sz="2000" dirty="0"/>
              <a:t>The execution plan shows an Aggregate node with a Sequential Scan and a date filter. PostgreSQL scans only the relevant partition for the specified date range and then calculates the total number of matching rows. The execution time is about 0.10 </a:t>
            </a:r>
            <a:r>
              <a:rPr lang="en-US" sz="2000" dirty="0" err="1"/>
              <a:t>ms.</a:t>
            </a:r>
            <a:endParaRPr lang="ru-RU" sz="2000" dirty="0"/>
          </a:p>
        </p:txBody>
      </p:sp>
      <p:pic>
        <p:nvPicPr>
          <p:cNvPr id="6" name="Content Placeholder 5">
            <a:extLst>
              <a:ext uri="{FF2B5EF4-FFF2-40B4-BE49-F238E27FC236}">
                <a16:creationId xmlns:a16="http://schemas.microsoft.com/office/drawing/2014/main" id="{DCE4D6FE-E89C-8F60-3940-0555A8925F81}"/>
              </a:ext>
            </a:extLst>
          </p:cNvPr>
          <p:cNvPicPr>
            <a:picLocks noGrp="1" noChangeAspect="1"/>
          </p:cNvPicPr>
          <p:nvPr>
            <p:ph sz="half" idx="2"/>
          </p:nvPr>
        </p:nvPicPr>
        <p:blipFill>
          <a:blip r:embed="rId2"/>
          <a:stretch>
            <a:fillRect/>
          </a:stretch>
        </p:blipFill>
        <p:spPr>
          <a:xfrm>
            <a:off x="6172200" y="1263193"/>
            <a:ext cx="5969412" cy="4143788"/>
          </a:xfrm>
          <a:prstGeom prst="rect">
            <a:avLst/>
          </a:prstGeom>
        </p:spPr>
      </p:pic>
    </p:spTree>
    <p:extLst>
      <p:ext uri="{BB962C8B-B14F-4D97-AF65-F5344CB8AC3E}">
        <p14:creationId xmlns:p14="http://schemas.microsoft.com/office/powerpoint/2010/main" val="27104700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A0E55B-A30F-AA93-9DCC-46A17CF7A987}"/>
              </a:ext>
            </a:extLst>
          </p:cNvPr>
          <p:cNvSpPr>
            <a:spLocks noGrp="1"/>
          </p:cNvSpPr>
          <p:nvPr>
            <p:ph sz="half" idx="1"/>
          </p:nvPr>
        </p:nvSpPr>
        <p:spPr/>
        <p:txBody>
          <a:bodyPr>
            <a:normAutofit/>
          </a:bodyPr>
          <a:lstStyle/>
          <a:p>
            <a:r>
              <a:rPr lang="en-US" sz="2000" dirty="0"/>
              <a:t>The execution plan shows an Aggregate node with a Sequential Scan on </a:t>
            </a:r>
            <a:r>
              <a:rPr lang="en-US" sz="2000" dirty="0" err="1"/>
              <a:t>sales_info_simple</a:t>
            </a:r>
            <a:r>
              <a:rPr lang="en-US" sz="2000" dirty="0"/>
              <a:t>. Because the table is not partitioned, PostgreSQL scans the whole table and applies the date filter before calculating the count. Unlike the partitioned table, partition pruning is not available, so the entire table must be examined. The execution time is about 0.13 </a:t>
            </a:r>
            <a:r>
              <a:rPr lang="en-US" sz="2000" dirty="0" err="1"/>
              <a:t>ms.</a:t>
            </a:r>
            <a:endParaRPr lang="ru-RU" sz="2000" dirty="0"/>
          </a:p>
        </p:txBody>
      </p:sp>
      <p:pic>
        <p:nvPicPr>
          <p:cNvPr id="6" name="Content Placeholder 5">
            <a:extLst>
              <a:ext uri="{FF2B5EF4-FFF2-40B4-BE49-F238E27FC236}">
                <a16:creationId xmlns:a16="http://schemas.microsoft.com/office/drawing/2014/main" id="{16FDF7C0-FCA7-01B0-C05D-A5D5A40AB386}"/>
              </a:ext>
            </a:extLst>
          </p:cNvPr>
          <p:cNvPicPr>
            <a:picLocks noGrp="1" noChangeAspect="1"/>
          </p:cNvPicPr>
          <p:nvPr>
            <p:ph sz="half" idx="2"/>
          </p:nvPr>
        </p:nvPicPr>
        <p:blipFill>
          <a:blip r:embed="rId2"/>
          <a:stretch>
            <a:fillRect/>
          </a:stretch>
        </p:blipFill>
        <p:spPr>
          <a:xfrm>
            <a:off x="6172200" y="865905"/>
            <a:ext cx="5181600" cy="5311058"/>
          </a:xfrm>
          <a:prstGeom prst="rect">
            <a:avLst/>
          </a:prstGeom>
        </p:spPr>
      </p:pic>
    </p:spTree>
    <p:extLst>
      <p:ext uri="{BB962C8B-B14F-4D97-AF65-F5344CB8AC3E}">
        <p14:creationId xmlns:p14="http://schemas.microsoft.com/office/powerpoint/2010/main" val="20820584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F98564-233F-5407-618E-E135765EFC01}"/>
              </a:ext>
            </a:extLst>
          </p:cNvPr>
          <p:cNvSpPr>
            <a:spLocks noGrp="1"/>
          </p:cNvSpPr>
          <p:nvPr>
            <p:ph sz="half" idx="1"/>
          </p:nvPr>
        </p:nvSpPr>
        <p:spPr>
          <a:xfrm>
            <a:off x="838200" y="735291"/>
            <a:ext cx="10370270" cy="5441672"/>
          </a:xfrm>
        </p:spPr>
        <p:txBody>
          <a:bodyPr>
            <a:normAutofit/>
          </a:bodyPr>
          <a:lstStyle/>
          <a:p>
            <a:r>
              <a:rPr lang="en-US" sz="2000" dirty="0"/>
              <a:t>The comparison shows that both tables return the same results, but their execution plans are different. The partitioned table uses Append and partition pruning, so only the necessary partition is scanned for queries with date conditions. The non-partitioned table always performs a Sequential Scan on the whole table. For COUNT(*) queries, PostgreSQL uses an Aggregate operation in both tables. Overall, partitioning helps improve the performance of queries that filter data by date.</a:t>
            </a:r>
            <a:endParaRPr lang="ru-RU" sz="2000" dirty="0"/>
          </a:p>
        </p:txBody>
      </p:sp>
    </p:spTree>
    <p:extLst>
      <p:ext uri="{BB962C8B-B14F-4D97-AF65-F5344CB8AC3E}">
        <p14:creationId xmlns:p14="http://schemas.microsoft.com/office/powerpoint/2010/main" val="31319181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1689D-7CF3-6A82-0FFF-E342635BD330}"/>
              </a:ext>
            </a:extLst>
          </p:cNvPr>
          <p:cNvSpPr>
            <a:spLocks noGrp="1"/>
          </p:cNvSpPr>
          <p:nvPr>
            <p:ph type="title"/>
          </p:nvPr>
        </p:nvSpPr>
        <p:spPr/>
        <p:txBody>
          <a:bodyPr>
            <a:normAutofit/>
          </a:bodyPr>
          <a:lstStyle/>
          <a:p>
            <a:r>
              <a:rPr lang="en-US" sz="2000" b="1" dirty="0"/>
              <a:t>TASK2: USE DECLARATIVE PARTITIONING </a:t>
            </a:r>
            <a:endParaRPr lang="ru-RU" sz="2000" dirty="0"/>
          </a:p>
        </p:txBody>
      </p:sp>
      <p:sp>
        <p:nvSpPr>
          <p:cNvPr id="3" name="Content Placeholder 2">
            <a:extLst>
              <a:ext uri="{FF2B5EF4-FFF2-40B4-BE49-F238E27FC236}">
                <a16:creationId xmlns:a16="http://schemas.microsoft.com/office/drawing/2014/main" id="{82B1E516-65ED-561A-70F4-14F09C4EE5A7}"/>
              </a:ext>
            </a:extLst>
          </p:cNvPr>
          <p:cNvSpPr>
            <a:spLocks noGrp="1"/>
          </p:cNvSpPr>
          <p:nvPr>
            <p:ph sz="half" idx="1"/>
          </p:nvPr>
        </p:nvSpPr>
        <p:spPr/>
        <p:txBody>
          <a:bodyPr/>
          <a:lstStyle/>
          <a:p>
            <a:r>
              <a:rPr lang="en-US" sz="2000" dirty="0"/>
              <a:t>The execution plan shows an Append node because the table is partitioned into multiple range and list partitions. As there is no filter, PostgreSQL scans all partitions and combines the results. The execution time is about 3511.88 </a:t>
            </a:r>
            <a:r>
              <a:rPr lang="en-US" sz="2000" dirty="0" err="1"/>
              <a:t>ms.</a:t>
            </a:r>
            <a:endParaRPr lang="ru-RU" sz="2000" dirty="0"/>
          </a:p>
        </p:txBody>
      </p:sp>
      <p:pic>
        <p:nvPicPr>
          <p:cNvPr id="6" name="Content Placeholder 5">
            <a:extLst>
              <a:ext uri="{FF2B5EF4-FFF2-40B4-BE49-F238E27FC236}">
                <a16:creationId xmlns:a16="http://schemas.microsoft.com/office/drawing/2014/main" id="{C25DD384-6C5C-6B97-1BC4-BC38564812CF}"/>
              </a:ext>
            </a:extLst>
          </p:cNvPr>
          <p:cNvPicPr>
            <a:picLocks noGrp="1" noChangeAspect="1"/>
          </p:cNvPicPr>
          <p:nvPr>
            <p:ph sz="half" idx="2"/>
          </p:nvPr>
        </p:nvPicPr>
        <p:blipFill>
          <a:blip r:embed="rId2"/>
          <a:stretch>
            <a:fillRect/>
          </a:stretch>
        </p:blipFill>
        <p:spPr>
          <a:xfrm>
            <a:off x="6172200" y="1690689"/>
            <a:ext cx="5181600" cy="4033572"/>
          </a:xfrm>
          <a:prstGeom prst="rect">
            <a:avLst/>
          </a:prstGeom>
        </p:spPr>
      </p:pic>
    </p:spTree>
    <p:extLst>
      <p:ext uri="{BB962C8B-B14F-4D97-AF65-F5344CB8AC3E}">
        <p14:creationId xmlns:p14="http://schemas.microsoft.com/office/powerpoint/2010/main" val="28360815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316BFB-DEFD-52A5-3AFE-4843CF1977F8}"/>
              </a:ext>
            </a:extLst>
          </p:cNvPr>
          <p:cNvSpPr>
            <a:spLocks noGrp="1"/>
          </p:cNvSpPr>
          <p:nvPr>
            <p:ph sz="half" idx="1"/>
          </p:nvPr>
        </p:nvSpPr>
        <p:spPr/>
        <p:txBody>
          <a:bodyPr/>
          <a:lstStyle/>
          <a:p>
            <a:r>
              <a:rPr lang="en-US" sz="2000" dirty="0"/>
              <a:t>Unlike </a:t>
            </a:r>
            <a:r>
              <a:rPr lang="en-US" sz="2000" dirty="0" err="1"/>
              <a:t>sales_info_dp</a:t>
            </a:r>
            <a:r>
              <a:rPr lang="en-US" sz="2000" dirty="0"/>
              <a:t>, which uses an Append operation to scan multiple partitions, </a:t>
            </a:r>
            <a:r>
              <a:rPr lang="en-US" sz="2000" dirty="0" err="1"/>
              <a:t>sales_info_simple</a:t>
            </a:r>
            <a:r>
              <a:rPr lang="en-US" sz="2000" dirty="0"/>
              <a:t> performs a single Sequential Scan because all data is stored in one table. The execution time is about 0.12 </a:t>
            </a:r>
            <a:r>
              <a:rPr lang="en-US" sz="2000" dirty="0" err="1"/>
              <a:t>ms.</a:t>
            </a:r>
            <a:endParaRPr lang="ru-RU" sz="2000" dirty="0"/>
          </a:p>
        </p:txBody>
      </p:sp>
      <p:pic>
        <p:nvPicPr>
          <p:cNvPr id="6" name="Content Placeholder 5">
            <a:extLst>
              <a:ext uri="{FF2B5EF4-FFF2-40B4-BE49-F238E27FC236}">
                <a16:creationId xmlns:a16="http://schemas.microsoft.com/office/drawing/2014/main" id="{73251F84-9B46-BF39-5E89-C678C788EB2F}"/>
              </a:ext>
            </a:extLst>
          </p:cNvPr>
          <p:cNvPicPr>
            <a:picLocks noGrp="1" noChangeAspect="1"/>
          </p:cNvPicPr>
          <p:nvPr>
            <p:ph sz="half" idx="2"/>
          </p:nvPr>
        </p:nvPicPr>
        <p:blipFill>
          <a:blip r:embed="rId2"/>
          <a:stretch>
            <a:fillRect/>
          </a:stretch>
        </p:blipFill>
        <p:spPr>
          <a:xfrm>
            <a:off x="6172200" y="1706252"/>
            <a:ext cx="5181600" cy="3233695"/>
          </a:xfrm>
          <a:prstGeom prst="rect">
            <a:avLst/>
          </a:prstGeom>
        </p:spPr>
      </p:pic>
    </p:spTree>
    <p:extLst>
      <p:ext uri="{BB962C8B-B14F-4D97-AF65-F5344CB8AC3E}">
        <p14:creationId xmlns:p14="http://schemas.microsoft.com/office/powerpoint/2010/main" val="33678521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5D70B4-BE8A-EC3B-5B96-DD1817936CEA}"/>
              </a:ext>
            </a:extLst>
          </p:cNvPr>
          <p:cNvSpPr>
            <a:spLocks noGrp="1"/>
          </p:cNvSpPr>
          <p:nvPr>
            <p:ph sz="half" idx="1"/>
          </p:nvPr>
        </p:nvSpPr>
        <p:spPr/>
        <p:txBody>
          <a:bodyPr/>
          <a:lstStyle/>
          <a:p>
            <a:r>
              <a:rPr lang="en-US" sz="2000" dirty="0"/>
              <a:t>The execution plan shows an Append node with Sequential Scans on the 2024 </a:t>
            </a:r>
            <a:r>
              <a:rPr lang="en-US" sz="2000" dirty="0" err="1"/>
              <a:t>subpartitions</a:t>
            </a:r>
            <a:r>
              <a:rPr lang="en-US" sz="2000" dirty="0"/>
              <a:t>. PostgreSQL uses partition pruning to read only the partitions for the specified date range, improving query performance. The execution time is about 1209.98 </a:t>
            </a:r>
            <a:r>
              <a:rPr lang="en-US" sz="2000" dirty="0" err="1"/>
              <a:t>ms.</a:t>
            </a:r>
            <a:endParaRPr lang="ru-RU" sz="2000" dirty="0"/>
          </a:p>
        </p:txBody>
      </p:sp>
      <p:pic>
        <p:nvPicPr>
          <p:cNvPr id="6" name="Content Placeholder 5">
            <a:extLst>
              <a:ext uri="{FF2B5EF4-FFF2-40B4-BE49-F238E27FC236}">
                <a16:creationId xmlns:a16="http://schemas.microsoft.com/office/drawing/2014/main" id="{4703FE73-7F56-1198-06A6-3CFA0D2BE095}"/>
              </a:ext>
            </a:extLst>
          </p:cNvPr>
          <p:cNvPicPr>
            <a:picLocks noGrp="1" noChangeAspect="1"/>
          </p:cNvPicPr>
          <p:nvPr>
            <p:ph sz="half" idx="2"/>
          </p:nvPr>
        </p:nvPicPr>
        <p:blipFill>
          <a:blip r:embed="rId2"/>
          <a:stretch>
            <a:fillRect/>
          </a:stretch>
        </p:blipFill>
        <p:spPr>
          <a:xfrm>
            <a:off x="6172202" y="1545997"/>
            <a:ext cx="5181600" cy="3831818"/>
          </a:xfrm>
          <a:prstGeom prst="rect">
            <a:avLst/>
          </a:prstGeom>
        </p:spPr>
      </p:pic>
    </p:spTree>
    <p:extLst>
      <p:ext uri="{BB962C8B-B14F-4D97-AF65-F5344CB8AC3E}">
        <p14:creationId xmlns:p14="http://schemas.microsoft.com/office/powerpoint/2010/main" val="28084122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0F1335-1747-1422-4B58-CC0F522EDD54}"/>
              </a:ext>
            </a:extLst>
          </p:cNvPr>
          <p:cNvSpPr>
            <a:spLocks noGrp="1"/>
          </p:cNvSpPr>
          <p:nvPr>
            <p:ph sz="half" idx="1"/>
          </p:nvPr>
        </p:nvSpPr>
        <p:spPr/>
        <p:txBody>
          <a:bodyPr/>
          <a:lstStyle/>
          <a:p>
            <a:r>
              <a:rPr lang="en-US" sz="2000" dirty="0"/>
              <a:t>The execution plan shows a Sequential Scan with a date filter. Unlike the partitioned table (</a:t>
            </a:r>
            <a:r>
              <a:rPr lang="en-US" sz="2000" dirty="0" err="1"/>
              <a:t>sales_info_dp</a:t>
            </a:r>
            <a:r>
              <a:rPr lang="en-US" sz="2000" dirty="0"/>
              <a:t>), </a:t>
            </a:r>
            <a:r>
              <a:rPr lang="en-US" sz="2000" dirty="0" err="1"/>
              <a:t>sales_info_simple</a:t>
            </a:r>
            <a:r>
              <a:rPr lang="en-US" sz="2000" dirty="0"/>
              <a:t> cannot use partition pruning, so PostgreSQL scans the entire table before applying the filter. The execution time is about 0.05 </a:t>
            </a:r>
            <a:r>
              <a:rPr lang="en-US" sz="2000" dirty="0" err="1"/>
              <a:t>ms.</a:t>
            </a:r>
            <a:endParaRPr lang="ru-RU" sz="2000" dirty="0"/>
          </a:p>
        </p:txBody>
      </p:sp>
      <p:pic>
        <p:nvPicPr>
          <p:cNvPr id="6" name="Content Placeholder 5">
            <a:extLst>
              <a:ext uri="{FF2B5EF4-FFF2-40B4-BE49-F238E27FC236}">
                <a16:creationId xmlns:a16="http://schemas.microsoft.com/office/drawing/2014/main" id="{11D8C7D0-463A-492D-B17D-CA1006DC22BC}"/>
              </a:ext>
            </a:extLst>
          </p:cNvPr>
          <p:cNvPicPr>
            <a:picLocks noGrp="1" noChangeAspect="1"/>
          </p:cNvPicPr>
          <p:nvPr>
            <p:ph sz="half" idx="2"/>
          </p:nvPr>
        </p:nvPicPr>
        <p:blipFill>
          <a:blip r:embed="rId2"/>
          <a:stretch>
            <a:fillRect/>
          </a:stretch>
        </p:blipFill>
        <p:spPr>
          <a:xfrm>
            <a:off x="6172200" y="3024435"/>
            <a:ext cx="5181600" cy="1953717"/>
          </a:xfrm>
          <a:prstGeom prst="rect">
            <a:avLst/>
          </a:prstGeom>
        </p:spPr>
      </p:pic>
    </p:spTree>
    <p:extLst>
      <p:ext uri="{BB962C8B-B14F-4D97-AF65-F5344CB8AC3E}">
        <p14:creationId xmlns:p14="http://schemas.microsoft.com/office/powerpoint/2010/main" val="2309695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62CA13-DB69-590C-113E-E2F431D0E5EA}"/>
              </a:ext>
            </a:extLst>
          </p:cNvPr>
          <p:cNvSpPr>
            <a:spLocks noGrp="1"/>
          </p:cNvSpPr>
          <p:nvPr>
            <p:ph sz="half" idx="1"/>
          </p:nvPr>
        </p:nvSpPr>
        <p:spPr/>
        <p:txBody>
          <a:bodyPr/>
          <a:lstStyle/>
          <a:p>
            <a:r>
              <a:rPr lang="en-US" sz="2000" dirty="0"/>
              <a:t>The execution plan shows a Gather node with Parallel Seq Scans. PostgreSQL scans only the 2024 partitions because of the date filter and uses multiple workers to speed up the query. The execution time is about 303.84 </a:t>
            </a:r>
            <a:r>
              <a:rPr lang="en-US" sz="2000" dirty="0" err="1"/>
              <a:t>ms.</a:t>
            </a:r>
            <a:endParaRPr lang="ru-RU" sz="2000" dirty="0"/>
          </a:p>
        </p:txBody>
      </p:sp>
      <p:pic>
        <p:nvPicPr>
          <p:cNvPr id="6" name="Content Placeholder 5">
            <a:extLst>
              <a:ext uri="{FF2B5EF4-FFF2-40B4-BE49-F238E27FC236}">
                <a16:creationId xmlns:a16="http://schemas.microsoft.com/office/drawing/2014/main" id="{FB09B16D-6EDE-60BD-D823-E78F95624AB5}"/>
              </a:ext>
            </a:extLst>
          </p:cNvPr>
          <p:cNvPicPr>
            <a:picLocks noGrp="1" noChangeAspect="1"/>
          </p:cNvPicPr>
          <p:nvPr>
            <p:ph sz="half" idx="2"/>
          </p:nvPr>
        </p:nvPicPr>
        <p:blipFill>
          <a:blip r:embed="rId2"/>
          <a:stretch>
            <a:fillRect/>
          </a:stretch>
        </p:blipFill>
        <p:spPr>
          <a:xfrm>
            <a:off x="6172200" y="2638691"/>
            <a:ext cx="5181600" cy="2725206"/>
          </a:xfrm>
          <a:prstGeom prst="rect">
            <a:avLst/>
          </a:prstGeom>
        </p:spPr>
      </p:pic>
    </p:spTree>
    <p:extLst>
      <p:ext uri="{BB962C8B-B14F-4D97-AF65-F5344CB8AC3E}">
        <p14:creationId xmlns:p14="http://schemas.microsoft.com/office/powerpoint/2010/main" val="6308111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D653B1-18CD-77CD-9D7A-2525A0EC9A40}"/>
              </a:ext>
            </a:extLst>
          </p:cNvPr>
          <p:cNvSpPr>
            <a:spLocks noGrp="1"/>
          </p:cNvSpPr>
          <p:nvPr>
            <p:ph sz="half" idx="1"/>
          </p:nvPr>
        </p:nvSpPr>
        <p:spPr/>
        <p:txBody>
          <a:bodyPr/>
          <a:lstStyle/>
          <a:p>
            <a:r>
              <a:rPr lang="en-US" sz="2000" dirty="0"/>
              <a:t>The execution plan shows a Sequential Scan on the </a:t>
            </a:r>
            <a:r>
              <a:rPr lang="en-US" sz="2000" dirty="0" err="1"/>
              <a:t>sales_info_simple</a:t>
            </a:r>
            <a:r>
              <a:rPr lang="en-US" sz="2000" dirty="0"/>
              <a:t> table with an exact date filter. Unlike the partitioned table, PostgreSQL cannot use partition pruning or parallel scanning, so it scans the whole table before applying the filter. The execution time is about 0.05 </a:t>
            </a:r>
            <a:r>
              <a:rPr lang="en-US" sz="2000" dirty="0" err="1"/>
              <a:t>ms.</a:t>
            </a:r>
            <a:endParaRPr lang="ru-RU" sz="2000" dirty="0"/>
          </a:p>
        </p:txBody>
      </p:sp>
      <p:pic>
        <p:nvPicPr>
          <p:cNvPr id="6" name="Content Placeholder 5">
            <a:extLst>
              <a:ext uri="{FF2B5EF4-FFF2-40B4-BE49-F238E27FC236}">
                <a16:creationId xmlns:a16="http://schemas.microsoft.com/office/drawing/2014/main" id="{9A784998-E800-1131-928F-E158EA7B7084}"/>
              </a:ext>
            </a:extLst>
          </p:cNvPr>
          <p:cNvPicPr>
            <a:picLocks noGrp="1" noChangeAspect="1"/>
          </p:cNvPicPr>
          <p:nvPr>
            <p:ph sz="half" idx="2"/>
          </p:nvPr>
        </p:nvPicPr>
        <p:blipFill>
          <a:blip r:embed="rId2"/>
          <a:stretch>
            <a:fillRect/>
          </a:stretch>
        </p:blipFill>
        <p:spPr>
          <a:xfrm>
            <a:off x="6172202" y="1755527"/>
            <a:ext cx="5181600" cy="1852030"/>
          </a:xfrm>
          <a:prstGeom prst="rect">
            <a:avLst/>
          </a:prstGeom>
        </p:spPr>
      </p:pic>
    </p:spTree>
    <p:extLst>
      <p:ext uri="{BB962C8B-B14F-4D97-AF65-F5344CB8AC3E}">
        <p14:creationId xmlns:p14="http://schemas.microsoft.com/office/powerpoint/2010/main" val="1808389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722028-CCAC-52DF-2D91-3B4B0694CD36}"/>
              </a:ext>
            </a:extLst>
          </p:cNvPr>
          <p:cNvSpPr>
            <a:spLocks noGrp="1"/>
          </p:cNvSpPr>
          <p:nvPr>
            <p:ph sz="half" idx="1"/>
          </p:nvPr>
        </p:nvSpPr>
        <p:spPr>
          <a:xfrm>
            <a:off x="838200" y="1432874"/>
            <a:ext cx="5181600" cy="4744089"/>
          </a:xfrm>
        </p:spPr>
        <p:txBody>
          <a:bodyPr/>
          <a:lstStyle/>
          <a:p>
            <a:r>
              <a:rPr lang="en-US" sz="2000" dirty="0"/>
              <a:t>The execution plan shows an Append node with Sequential Scans on the _a list partitions of each year. Because the table is partitioned by category, PostgreSQL scans only the partitions that can contain category 'A', skipping the other category partitions. The execution time is about 1047.38 </a:t>
            </a:r>
            <a:r>
              <a:rPr lang="en-US" sz="2000" dirty="0" err="1"/>
              <a:t>ms.</a:t>
            </a:r>
            <a:endParaRPr lang="ru-RU" sz="2000" dirty="0"/>
          </a:p>
        </p:txBody>
      </p:sp>
      <p:pic>
        <p:nvPicPr>
          <p:cNvPr id="6" name="Content Placeholder 5">
            <a:extLst>
              <a:ext uri="{FF2B5EF4-FFF2-40B4-BE49-F238E27FC236}">
                <a16:creationId xmlns:a16="http://schemas.microsoft.com/office/drawing/2014/main" id="{FEB9EF1E-D17C-1761-8C6C-D839ADB36188}"/>
              </a:ext>
            </a:extLst>
          </p:cNvPr>
          <p:cNvPicPr>
            <a:picLocks noGrp="1" noChangeAspect="1"/>
          </p:cNvPicPr>
          <p:nvPr>
            <p:ph sz="half" idx="2"/>
          </p:nvPr>
        </p:nvPicPr>
        <p:blipFill>
          <a:blip r:embed="rId2"/>
          <a:stretch>
            <a:fillRect/>
          </a:stretch>
        </p:blipFill>
        <p:spPr>
          <a:xfrm>
            <a:off x="6096000" y="1432874"/>
            <a:ext cx="5181600" cy="3449118"/>
          </a:xfrm>
          <a:prstGeom prst="rect">
            <a:avLst/>
          </a:prstGeom>
        </p:spPr>
      </p:pic>
    </p:spTree>
    <p:extLst>
      <p:ext uri="{BB962C8B-B14F-4D97-AF65-F5344CB8AC3E}">
        <p14:creationId xmlns:p14="http://schemas.microsoft.com/office/powerpoint/2010/main" val="209621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70CE51-3B93-E249-FDA1-4CAA62AA91FA}"/>
              </a:ext>
            </a:extLst>
          </p:cNvPr>
          <p:cNvSpPr>
            <a:spLocks noGrp="1"/>
          </p:cNvSpPr>
          <p:nvPr>
            <p:ph sz="half" idx="1"/>
          </p:nvPr>
        </p:nvSpPr>
        <p:spPr/>
        <p:txBody>
          <a:bodyPr/>
          <a:lstStyle/>
          <a:p>
            <a:r>
              <a:rPr lang="en-US" sz="2000" dirty="0"/>
              <a:t>The execution plan shows a Sequential Scan on the </a:t>
            </a:r>
            <a:r>
              <a:rPr lang="en-US" sz="2000" dirty="0" err="1"/>
              <a:t>sales_info_simple</a:t>
            </a:r>
            <a:r>
              <a:rPr lang="en-US" sz="2000" dirty="0"/>
              <a:t> table with the category filter. Unlike the partitioned table (</a:t>
            </a:r>
            <a:r>
              <a:rPr lang="en-US" sz="2000" dirty="0" err="1"/>
              <a:t>sales_info_dp</a:t>
            </a:r>
            <a:r>
              <a:rPr lang="en-US" sz="2000" dirty="0"/>
              <a:t>), PostgreSQL cannot use list partitioning, so it scans the whole table instead of only the relevant category partition. The execution time is about 0.16 </a:t>
            </a:r>
            <a:r>
              <a:rPr lang="en-US" sz="2000" dirty="0" err="1"/>
              <a:t>ms.</a:t>
            </a:r>
            <a:endParaRPr lang="ru-RU" sz="2000" dirty="0"/>
          </a:p>
        </p:txBody>
      </p:sp>
      <p:pic>
        <p:nvPicPr>
          <p:cNvPr id="6" name="Content Placeholder 5">
            <a:extLst>
              <a:ext uri="{FF2B5EF4-FFF2-40B4-BE49-F238E27FC236}">
                <a16:creationId xmlns:a16="http://schemas.microsoft.com/office/drawing/2014/main" id="{3E0432BE-B19A-0C28-634A-7585929D694D}"/>
              </a:ext>
            </a:extLst>
          </p:cNvPr>
          <p:cNvPicPr>
            <a:picLocks noGrp="1" noChangeAspect="1"/>
          </p:cNvPicPr>
          <p:nvPr>
            <p:ph sz="half" idx="2"/>
          </p:nvPr>
        </p:nvPicPr>
        <p:blipFill>
          <a:blip r:embed="rId2"/>
          <a:stretch>
            <a:fillRect/>
          </a:stretch>
        </p:blipFill>
        <p:spPr>
          <a:xfrm>
            <a:off x="6172200" y="3182518"/>
            <a:ext cx="5181600" cy="1637552"/>
          </a:xfrm>
          <a:prstGeom prst="rect">
            <a:avLst/>
          </a:prstGeom>
        </p:spPr>
      </p:pic>
    </p:spTree>
    <p:extLst>
      <p:ext uri="{BB962C8B-B14F-4D97-AF65-F5344CB8AC3E}">
        <p14:creationId xmlns:p14="http://schemas.microsoft.com/office/powerpoint/2010/main" val="3350876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AEFCBE-AF11-8CED-C121-6D8FCF8BDD72}"/>
              </a:ext>
            </a:extLst>
          </p:cNvPr>
          <p:cNvSpPr>
            <a:spLocks noGrp="1"/>
          </p:cNvSpPr>
          <p:nvPr>
            <p:ph sz="half" idx="1"/>
          </p:nvPr>
        </p:nvSpPr>
        <p:spPr/>
        <p:txBody>
          <a:bodyPr/>
          <a:lstStyle/>
          <a:p>
            <a:r>
              <a:rPr lang="en-US" sz="2000" dirty="0"/>
              <a:t>The execution plan shows an Append node with Sequential Scans on the _a list partitions. PostgreSQL scans only the partitions that contain categories A, B, and C, reducing the number of partitions that need to be read. The execution time is about 2228.30 </a:t>
            </a:r>
            <a:r>
              <a:rPr lang="en-US" sz="2000" dirty="0" err="1"/>
              <a:t>ms.</a:t>
            </a:r>
            <a:endParaRPr lang="ru-RU" sz="2000" dirty="0"/>
          </a:p>
        </p:txBody>
      </p:sp>
      <p:pic>
        <p:nvPicPr>
          <p:cNvPr id="6" name="Content Placeholder 5">
            <a:extLst>
              <a:ext uri="{FF2B5EF4-FFF2-40B4-BE49-F238E27FC236}">
                <a16:creationId xmlns:a16="http://schemas.microsoft.com/office/drawing/2014/main" id="{50B9E163-4276-64F7-84A9-041A3FCE0C59}"/>
              </a:ext>
            </a:extLst>
          </p:cNvPr>
          <p:cNvPicPr>
            <a:picLocks noGrp="1" noChangeAspect="1"/>
          </p:cNvPicPr>
          <p:nvPr>
            <p:ph sz="half" idx="2"/>
          </p:nvPr>
        </p:nvPicPr>
        <p:blipFill>
          <a:blip r:embed="rId2"/>
          <a:stretch>
            <a:fillRect/>
          </a:stretch>
        </p:blipFill>
        <p:spPr>
          <a:xfrm>
            <a:off x="6172200" y="1891600"/>
            <a:ext cx="5181600" cy="4219388"/>
          </a:xfrm>
          <a:prstGeom prst="rect">
            <a:avLst/>
          </a:prstGeom>
        </p:spPr>
      </p:pic>
    </p:spTree>
    <p:extLst>
      <p:ext uri="{BB962C8B-B14F-4D97-AF65-F5344CB8AC3E}">
        <p14:creationId xmlns:p14="http://schemas.microsoft.com/office/powerpoint/2010/main" val="5913203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08DA5B-6479-F84A-75E9-CC891E5351CC}"/>
              </a:ext>
            </a:extLst>
          </p:cNvPr>
          <p:cNvSpPr>
            <a:spLocks noGrp="1"/>
          </p:cNvSpPr>
          <p:nvPr>
            <p:ph sz="half" idx="1"/>
          </p:nvPr>
        </p:nvSpPr>
        <p:spPr/>
        <p:txBody>
          <a:bodyPr/>
          <a:lstStyle/>
          <a:p>
            <a:r>
              <a:rPr lang="en-US" sz="2000" dirty="0"/>
              <a:t>The execution plan shows a Sequential Scan on the </a:t>
            </a:r>
            <a:r>
              <a:rPr lang="en-US" sz="2000" dirty="0" err="1"/>
              <a:t>sales_info_simple</a:t>
            </a:r>
            <a:r>
              <a:rPr lang="en-US" sz="2000" dirty="0"/>
              <a:t> table with the category list filter. Unlike the partitioned table (</a:t>
            </a:r>
            <a:r>
              <a:rPr lang="en-US" sz="2000" dirty="0" err="1"/>
              <a:t>sales_info_dp</a:t>
            </a:r>
            <a:r>
              <a:rPr lang="en-US" sz="2000" dirty="0"/>
              <a:t>), PostgreSQL cannot use list partition pruning, so it scans the whole table before applying the filter. The execution time is about 0.26 </a:t>
            </a:r>
            <a:r>
              <a:rPr lang="en-US" sz="2000" dirty="0" err="1"/>
              <a:t>ms.</a:t>
            </a:r>
            <a:endParaRPr lang="ru-RU" sz="2000" dirty="0"/>
          </a:p>
        </p:txBody>
      </p:sp>
      <p:pic>
        <p:nvPicPr>
          <p:cNvPr id="6" name="Content Placeholder 5">
            <a:extLst>
              <a:ext uri="{FF2B5EF4-FFF2-40B4-BE49-F238E27FC236}">
                <a16:creationId xmlns:a16="http://schemas.microsoft.com/office/drawing/2014/main" id="{505E4F08-DFDA-82B5-7178-4CC72C800D66}"/>
              </a:ext>
            </a:extLst>
          </p:cNvPr>
          <p:cNvPicPr>
            <a:picLocks noGrp="1" noChangeAspect="1"/>
          </p:cNvPicPr>
          <p:nvPr>
            <p:ph sz="half" idx="2"/>
          </p:nvPr>
        </p:nvPicPr>
        <p:blipFill>
          <a:blip r:embed="rId2"/>
          <a:stretch>
            <a:fillRect/>
          </a:stretch>
        </p:blipFill>
        <p:spPr>
          <a:xfrm>
            <a:off x="6096000" y="1743557"/>
            <a:ext cx="5181600" cy="1838261"/>
          </a:xfrm>
          <a:prstGeom prst="rect">
            <a:avLst/>
          </a:prstGeom>
        </p:spPr>
      </p:pic>
    </p:spTree>
    <p:extLst>
      <p:ext uri="{BB962C8B-B14F-4D97-AF65-F5344CB8AC3E}">
        <p14:creationId xmlns:p14="http://schemas.microsoft.com/office/powerpoint/2010/main" val="15142462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CFA515-F742-F561-7D5C-B3F0B6DD619D}"/>
              </a:ext>
            </a:extLst>
          </p:cNvPr>
          <p:cNvSpPr>
            <a:spLocks noGrp="1"/>
          </p:cNvSpPr>
          <p:nvPr>
            <p:ph sz="half" idx="1"/>
          </p:nvPr>
        </p:nvSpPr>
        <p:spPr/>
        <p:txBody>
          <a:bodyPr/>
          <a:lstStyle/>
          <a:p>
            <a:r>
              <a:rPr lang="en-US" sz="2000" dirty="0"/>
              <a:t>The execution plan shows a Gather node with Parallel Sequential Scans. PostgreSQL scans only the 2024 _a partition because of the date and category filters. This demonstrates range and list partition pruning, making the query more efficient. The execution time is about 96.26 </a:t>
            </a:r>
            <a:r>
              <a:rPr lang="en-US" sz="2000" dirty="0" err="1"/>
              <a:t>ms.</a:t>
            </a:r>
            <a:endParaRPr lang="ru-RU" sz="2000" dirty="0"/>
          </a:p>
        </p:txBody>
      </p:sp>
      <p:pic>
        <p:nvPicPr>
          <p:cNvPr id="6" name="Content Placeholder 5">
            <a:extLst>
              <a:ext uri="{FF2B5EF4-FFF2-40B4-BE49-F238E27FC236}">
                <a16:creationId xmlns:a16="http://schemas.microsoft.com/office/drawing/2014/main" id="{C494901D-B968-CAA0-E9D4-37BF2E5D0120}"/>
              </a:ext>
            </a:extLst>
          </p:cNvPr>
          <p:cNvPicPr>
            <a:picLocks noGrp="1" noChangeAspect="1"/>
          </p:cNvPicPr>
          <p:nvPr>
            <p:ph sz="half" idx="2"/>
          </p:nvPr>
        </p:nvPicPr>
        <p:blipFill>
          <a:blip r:embed="rId2"/>
          <a:stretch>
            <a:fillRect/>
          </a:stretch>
        </p:blipFill>
        <p:spPr>
          <a:xfrm>
            <a:off x="6172200" y="2902244"/>
            <a:ext cx="5181600" cy="2198099"/>
          </a:xfrm>
          <a:prstGeom prst="rect">
            <a:avLst/>
          </a:prstGeom>
        </p:spPr>
      </p:pic>
    </p:spTree>
    <p:extLst>
      <p:ext uri="{BB962C8B-B14F-4D97-AF65-F5344CB8AC3E}">
        <p14:creationId xmlns:p14="http://schemas.microsoft.com/office/powerpoint/2010/main" val="3225649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0FBDEC-41EB-A6C0-EF86-6D54278C767B}"/>
              </a:ext>
            </a:extLst>
          </p:cNvPr>
          <p:cNvSpPr>
            <a:spLocks noGrp="1"/>
          </p:cNvSpPr>
          <p:nvPr>
            <p:ph sz="half" idx="1"/>
          </p:nvPr>
        </p:nvSpPr>
        <p:spPr/>
        <p:txBody>
          <a:bodyPr/>
          <a:lstStyle/>
          <a:p>
            <a:r>
              <a:rPr lang="en-US" sz="2000" dirty="0"/>
              <a:t>The execution plan shows a Sequential Scan on the </a:t>
            </a:r>
            <a:r>
              <a:rPr lang="en-US" sz="2000" dirty="0" err="1"/>
              <a:t>sales_info_simple</a:t>
            </a:r>
            <a:r>
              <a:rPr lang="en-US" sz="2000" dirty="0"/>
              <a:t> table with both the category and date filters. Unlike the partitioned table (</a:t>
            </a:r>
            <a:r>
              <a:rPr lang="en-US" sz="2000" dirty="0" err="1"/>
              <a:t>sales_info_dp</a:t>
            </a:r>
            <a:r>
              <a:rPr lang="en-US" sz="2000" dirty="0"/>
              <a:t>), PostgreSQL cannot use range or list partition pruning, so it scans the entire table before applying the filters. The execution time is about 0.04 </a:t>
            </a:r>
            <a:r>
              <a:rPr lang="en-US" sz="2000" dirty="0" err="1"/>
              <a:t>ms</a:t>
            </a:r>
            <a:r>
              <a:rPr lang="en-US" dirty="0" err="1"/>
              <a:t>.</a:t>
            </a:r>
            <a:endParaRPr lang="ru-RU" dirty="0"/>
          </a:p>
        </p:txBody>
      </p:sp>
      <p:pic>
        <p:nvPicPr>
          <p:cNvPr id="6" name="Content Placeholder 5">
            <a:extLst>
              <a:ext uri="{FF2B5EF4-FFF2-40B4-BE49-F238E27FC236}">
                <a16:creationId xmlns:a16="http://schemas.microsoft.com/office/drawing/2014/main" id="{A25368AA-6F6E-1374-8B82-135D67ABB34F}"/>
              </a:ext>
            </a:extLst>
          </p:cNvPr>
          <p:cNvPicPr>
            <a:picLocks noGrp="1" noChangeAspect="1"/>
          </p:cNvPicPr>
          <p:nvPr>
            <p:ph sz="half" idx="2"/>
          </p:nvPr>
        </p:nvPicPr>
        <p:blipFill>
          <a:blip r:embed="rId2"/>
          <a:stretch>
            <a:fillRect/>
          </a:stretch>
        </p:blipFill>
        <p:spPr>
          <a:xfrm>
            <a:off x="6172200" y="2792683"/>
            <a:ext cx="5181600" cy="2417222"/>
          </a:xfrm>
          <a:prstGeom prst="rect">
            <a:avLst/>
          </a:prstGeom>
        </p:spPr>
      </p:pic>
    </p:spTree>
    <p:extLst>
      <p:ext uri="{BB962C8B-B14F-4D97-AF65-F5344CB8AC3E}">
        <p14:creationId xmlns:p14="http://schemas.microsoft.com/office/powerpoint/2010/main" val="19844734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455</TotalTime>
  <Words>1153</Words>
  <Application>Microsoft Office PowerPoint</Application>
  <PresentationFormat>Widescreen</PresentationFormat>
  <Paragraphs>25</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Calibri Light</vt:lpstr>
      <vt:lpstr>Office Theme</vt:lpstr>
      <vt:lpstr>1.1 TASK 1: USE INHERITANCE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TASK2: USE DECLARATIVE PARTITIONING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Muhammad Suvonov</dc:creator>
  <cp:lastModifiedBy>Muhammad Suvonov</cp:lastModifiedBy>
  <cp:revision>5</cp:revision>
  <dcterms:created xsi:type="dcterms:W3CDTF">2026-07-14T05:48:59Z</dcterms:created>
  <dcterms:modified xsi:type="dcterms:W3CDTF">2026-07-14T13:24:58Z</dcterms:modified>
</cp:coreProperties>
</file>