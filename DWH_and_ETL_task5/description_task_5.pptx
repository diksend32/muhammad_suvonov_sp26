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86" y="-88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2C36EC2-E467-408C-BC75-471B4C76ECD7}" type="datetimeFigureOut">
              <a:rPr lang="ru-RU" smtClean="0"/>
              <a:t>13.07.2026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00814FC-132A-494A-BE23-1D3C3C87366D}" type="slidenum">
              <a:rPr lang="ru-RU" smtClean="0"/>
              <a:t>‹#›</a:t>
            </a:fld>
            <a:endParaRPr lang="ru-RU"/>
          </a:p>
        </p:txBody>
      </p:sp>
    </p:spTree>
    <p:extLst>
      <p:ext uri="{BB962C8B-B14F-4D97-AF65-F5344CB8AC3E}">
        <p14:creationId xmlns:p14="http://schemas.microsoft.com/office/powerpoint/2010/main" val="2373576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C36EC2-E467-408C-BC75-471B4C76ECD7}" type="datetimeFigureOut">
              <a:rPr lang="ru-RU" smtClean="0"/>
              <a:t>13.07.2026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00814FC-132A-494A-BE23-1D3C3C87366D}" type="slidenum">
              <a:rPr lang="ru-RU" smtClean="0"/>
              <a:t>‹#›</a:t>
            </a:fld>
            <a:endParaRPr lang="ru-RU"/>
          </a:p>
        </p:txBody>
      </p:sp>
    </p:spTree>
    <p:extLst>
      <p:ext uri="{BB962C8B-B14F-4D97-AF65-F5344CB8AC3E}">
        <p14:creationId xmlns:p14="http://schemas.microsoft.com/office/powerpoint/2010/main" val="316228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C36EC2-E467-408C-BC75-471B4C76ECD7}" type="datetimeFigureOut">
              <a:rPr lang="ru-RU" smtClean="0"/>
              <a:t>13.07.2026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00814FC-132A-494A-BE23-1D3C3C87366D}" type="slidenum">
              <a:rPr lang="ru-RU" smtClean="0"/>
              <a:t>‹#›</a:t>
            </a:fld>
            <a:endParaRPr lang="ru-RU"/>
          </a:p>
        </p:txBody>
      </p:sp>
    </p:spTree>
    <p:extLst>
      <p:ext uri="{BB962C8B-B14F-4D97-AF65-F5344CB8AC3E}">
        <p14:creationId xmlns:p14="http://schemas.microsoft.com/office/powerpoint/2010/main" val="2832272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2C36EC2-E467-408C-BC75-471B4C76ECD7}" type="datetimeFigureOut">
              <a:rPr lang="ru-RU" smtClean="0"/>
              <a:t>13.07.2026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00814FC-132A-494A-BE23-1D3C3C87366D}" type="slidenum">
              <a:rPr lang="ru-RU" smtClean="0"/>
              <a:t>‹#›</a:t>
            </a:fld>
            <a:endParaRPr lang="ru-RU"/>
          </a:p>
        </p:txBody>
      </p:sp>
    </p:spTree>
    <p:extLst>
      <p:ext uri="{BB962C8B-B14F-4D97-AF65-F5344CB8AC3E}">
        <p14:creationId xmlns:p14="http://schemas.microsoft.com/office/powerpoint/2010/main" val="3366284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2C36EC2-E467-408C-BC75-471B4C76ECD7}" type="datetimeFigureOut">
              <a:rPr lang="ru-RU" smtClean="0"/>
              <a:t>13.07.2026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800814FC-132A-494A-BE23-1D3C3C87366D}" type="slidenum">
              <a:rPr lang="ru-RU" smtClean="0"/>
              <a:t>‹#›</a:t>
            </a:fld>
            <a:endParaRPr lang="ru-RU"/>
          </a:p>
        </p:txBody>
      </p:sp>
    </p:spTree>
    <p:extLst>
      <p:ext uri="{BB962C8B-B14F-4D97-AF65-F5344CB8AC3E}">
        <p14:creationId xmlns:p14="http://schemas.microsoft.com/office/powerpoint/2010/main" val="937023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2C36EC2-E467-408C-BC75-471B4C76ECD7}" type="datetimeFigureOut">
              <a:rPr lang="ru-RU" smtClean="0"/>
              <a:t>13.07.2026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800814FC-132A-494A-BE23-1D3C3C87366D}" type="slidenum">
              <a:rPr lang="ru-RU" smtClean="0"/>
              <a:t>‹#›</a:t>
            </a:fld>
            <a:endParaRPr lang="ru-RU"/>
          </a:p>
        </p:txBody>
      </p:sp>
    </p:spTree>
    <p:extLst>
      <p:ext uri="{BB962C8B-B14F-4D97-AF65-F5344CB8AC3E}">
        <p14:creationId xmlns:p14="http://schemas.microsoft.com/office/powerpoint/2010/main" val="2597713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C36EC2-E467-408C-BC75-471B4C76ECD7}" type="datetimeFigureOut">
              <a:rPr lang="ru-RU" smtClean="0"/>
              <a:t>13.07.2026</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800814FC-132A-494A-BE23-1D3C3C87366D}" type="slidenum">
              <a:rPr lang="ru-RU" smtClean="0"/>
              <a:t>‹#›</a:t>
            </a:fld>
            <a:endParaRPr lang="ru-RU"/>
          </a:p>
        </p:txBody>
      </p:sp>
    </p:spTree>
    <p:extLst>
      <p:ext uri="{BB962C8B-B14F-4D97-AF65-F5344CB8AC3E}">
        <p14:creationId xmlns:p14="http://schemas.microsoft.com/office/powerpoint/2010/main" val="3932901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2C36EC2-E467-408C-BC75-471B4C76ECD7}" type="datetimeFigureOut">
              <a:rPr lang="ru-RU" smtClean="0"/>
              <a:t>13.07.2026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00814FC-132A-494A-BE23-1D3C3C87366D}" type="slidenum">
              <a:rPr lang="ru-RU" smtClean="0"/>
              <a:t>‹#›</a:t>
            </a:fld>
            <a:endParaRPr lang="ru-RU"/>
          </a:p>
        </p:txBody>
      </p:sp>
    </p:spTree>
    <p:extLst>
      <p:ext uri="{BB962C8B-B14F-4D97-AF65-F5344CB8AC3E}">
        <p14:creationId xmlns:p14="http://schemas.microsoft.com/office/powerpoint/2010/main" val="1312613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2C36EC2-E467-408C-BC75-471B4C76ECD7}" type="datetimeFigureOut">
              <a:rPr lang="ru-RU" smtClean="0"/>
              <a:t>13.07.2026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00814FC-132A-494A-BE23-1D3C3C87366D}" type="slidenum">
              <a:rPr lang="ru-RU" smtClean="0"/>
              <a:t>‹#›</a:t>
            </a:fld>
            <a:endParaRPr lang="ru-RU"/>
          </a:p>
        </p:txBody>
      </p:sp>
    </p:spTree>
    <p:extLst>
      <p:ext uri="{BB962C8B-B14F-4D97-AF65-F5344CB8AC3E}">
        <p14:creationId xmlns:p14="http://schemas.microsoft.com/office/powerpoint/2010/main" val="3426508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C36EC2-E467-408C-BC75-471B4C76ECD7}" type="datetimeFigureOut">
              <a:rPr lang="ru-RU" smtClean="0"/>
              <a:t>13.07.2026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00814FC-132A-494A-BE23-1D3C3C87366D}" type="slidenum">
              <a:rPr lang="ru-RU" smtClean="0"/>
              <a:t>‹#›</a:t>
            </a:fld>
            <a:endParaRPr lang="ru-RU"/>
          </a:p>
        </p:txBody>
      </p:sp>
    </p:spTree>
    <p:extLst>
      <p:ext uri="{BB962C8B-B14F-4D97-AF65-F5344CB8AC3E}">
        <p14:creationId xmlns:p14="http://schemas.microsoft.com/office/powerpoint/2010/main" val="492852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C36EC2-E467-408C-BC75-471B4C76ECD7}" type="datetimeFigureOut">
              <a:rPr lang="ru-RU" smtClean="0"/>
              <a:t>13.07.2026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00814FC-132A-494A-BE23-1D3C3C87366D}" type="slidenum">
              <a:rPr lang="ru-RU" smtClean="0"/>
              <a:t>‹#›</a:t>
            </a:fld>
            <a:endParaRPr lang="ru-RU"/>
          </a:p>
        </p:txBody>
      </p:sp>
    </p:spTree>
    <p:extLst>
      <p:ext uri="{BB962C8B-B14F-4D97-AF65-F5344CB8AC3E}">
        <p14:creationId xmlns:p14="http://schemas.microsoft.com/office/powerpoint/2010/main" val="34505640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C36EC2-E467-408C-BC75-471B4C76ECD7}" type="datetimeFigureOut">
              <a:rPr lang="ru-RU" smtClean="0"/>
              <a:t>13.07.2026</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0814FC-132A-494A-BE23-1D3C3C87366D}" type="slidenum">
              <a:rPr lang="ru-RU" smtClean="0"/>
              <a:t>‹#›</a:t>
            </a:fld>
            <a:endParaRPr lang="ru-RU"/>
          </a:p>
        </p:txBody>
      </p:sp>
    </p:spTree>
    <p:extLst>
      <p:ext uri="{BB962C8B-B14F-4D97-AF65-F5344CB8AC3E}">
        <p14:creationId xmlns:p14="http://schemas.microsoft.com/office/powerpoint/2010/main" val="18708803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31E51-0EFE-60C8-846A-7BFE7188E33D}"/>
              </a:ext>
            </a:extLst>
          </p:cNvPr>
          <p:cNvSpPr>
            <a:spLocks noGrp="1"/>
          </p:cNvSpPr>
          <p:nvPr>
            <p:ph type="ctrTitle"/>
          </p:nvPr>
        </p:nvSpPr>
        <p:spPr/>
        <p:txBody>
          <a:bodyPr>
            <a:normAutofit fontScale="90000"/>
          </a:bodyPr>
          <a:lstStyle/>
          <a:p>
            <a:br>
              <a:rPr lang="ru-RU" dirty="0"/>
            </a:br>
            <a:r>
              <a:rPr lang="en-US" dirty="0"/>
              <a:t> </a:t>
            </a:r>
            <a:r>
              <a:rPr lang="en-US" b="1" dirty="0"/>
              <a:t>PostgreSQL Join Methods </a:t>
            </a:r>
            <a:r>
              <a:rPr lang="en-US" dirty="0"/>
              <a:t>	</a:t>
            </a:r>
            <a:br>
              <a:rPr lang="en-US" dirty="0"/>
            </a:br>
            <a:endParaRPr lang="ru-RU" dirty="0"/>
          </a:p>
        </p:txBody>
      </p:sp>
    </p:spTree>
    <p:extLst>
      <p:ext uri="{BB962C8B-B14F-4D97-AF65-F5344CB8AC3E}">
        <p14:creationId xmlns:p14="http://schemas.microsoft.com/office/powerpoint/2010/main" val="2119516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FFD35-766E-BE3D-40FF-78040CFFB0C2}"/>
              </a:ext>
            </a:extLst>
          </p:cNvPr>
          <p:cNvSpPr>
            <a:spLocks noGrp="1"/>
          </p:cNvSpPr>
          <p:nvPr>
            <p:ph type="title"/>
          </p:nvPr>
        </p:nvSpPr>
        <p:spPr>
          <a:xfrm>
            <a:off x="838200" y="365125"/>
            <a:ext cx="10515600" cy="389019"/>
          </a:xfrm>
        </p:spPr>
        <p:txBody>
          <a:bodyPr>
            <a:normAutofit fontScale="90000"/>
          </a:bodyPr>
          <a:lstStyle/>
          <a:p>
            <a:r>
              <a:rPr lang="en-US" b="1" dirty="0"/>
              <a:t>1. JOIN METHODS </a:t>
            </a:r>
            <a:endParaRPr lang="ru-RU" dirty="0"/>
          </a:p>
        </p:txBody>
      </p:sp>
      <p:sp>
        <p:nvSpPr>
          <p:cNvPr id="4" name="Content Placeholder 3">
            <a:extLst>
              <a:ext uri="{FF2B5EF4-FFF2-40B4-BE49-F238E27FC236}">
                <a16:creationId xmlns:a16="http://schemas.microsoft.com/office/drawing/2014/main" id="{042EBD6F-4F35-73C7-3E99-717F39E30466}"/>
              </a:ext>
            </a:extLst>
          </p:cNvPr>
          <p:cNvSpPr>
            <a:spLocks noGrp="1"/>
          </p:cNvSpPr>
          <p:nvPr>
            <p:ph sz="half" idx="1"/>
          </p:nvPr>
        </p:nvSpPr>
        <p:spPr>
          <a:xfrm>
            <a:off x="207390" y="1055802"/>
            <a:ext cx="5812410" cy="5606755"/>
          </a:xfrm>
        </p:spPr>
        <p:txBody>
          <a:bodyPr>
            <a:normAutofit fontScale="92500" lnSpcReduction="10000"/>
          </a:bodyPr>
          <a:lstStyle/>
          <a:p>
            <a:pPr marL="0" indent="0">
              <a:buNone/>
            </a:pPr>
            <a:r>
              <a:rPr lang="en-US" b="1" dirty="0"/>
              <a:t>1.1. TASK 1: NESTED LOOP JOIN </a:t>
            </a:r>
          </a:p>
          <a:p>
            <a:pPr marL="0" indent="0">
              <a:buNone/>
            </a:pPr>
            <a:r>
              <a:rPr lang="en-US" dirty="0"/>
              <a:t>The optimizer chose a Nested Loop Join because the join is a comparison condition. Nested Loop can handle any join condition by comparing each row of the outer table with each row of the inner table. In contrast, Hash Join is optimized for equality  joins, while Merge Join is optimized for equality joins on sorted data. Both Hash Join and Merge Join are generally more efficient for large tables. PostgreSQL uses After scanning </a:t>
            </a:r>
            <a:r>
              <a:rPr lang="en-US" dirty="0" err="1"/>
              <a:t>test_joins_b</a:t>
            </a:r>
            <a:r>
              <a:rPr lang="en-US" dirty="0"/>
              <a:t>, PostgreSQL materializes its rows in memory so they can be reused efficiently during the nested loop instead of scanning the table repeatedly</a:t>
            </a:r>
          </a:p>
          <a:p>
            <a:pPr marL="0" indent="0">
              <a:buNone/>
            </a:pPr>
            <a:endParaRPr lang="en-US" b="1" dirty="0"/>
          </a:p>
        </p:txBody>
      </p:sp>
      <p:pic>
        <p:nvPicPr>
          <p:cNvPr id="7" name="Content Placeholder 6">
            <a:extLst>
              <a:ext uri="{FF2B5EF4-FFF2-40B4-BE49-F238E27FC236}">
                <a16:creationId xmlns:a16="http://schemas.microsoft.com/office/drawing/2014/main" id="{CADFE1E0-0F60-1C1B-FDEF-EC9C63C25E6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886119"/>
            <a:ext cx="5181600" cy="5606755"/>
          </a:xfrm>
        </p:spPr>
      </p:pic>
    </p:spTree>
    <p:extLst>
      <p:ext uri="{BB962C8B-B14F-4D97-AF65-F5344CB8AC3E}">
        <p14:creationId xmlns:p14="http://schemas.microsoft.com/office/powerpoint/2010/main" val="3413418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BCBEE8-5667-09A0-EB7F-EEFE3AD07078}"/>
              </a:ext>
            </a:extLst>
          </p:cNvPr>
          <p:cNvSpPr>
            <a:spLocks noGrp="1"/>
          </p:cNvSpPr>
          <p:nvPr>
            <p:ph sz="half" idx="1"/>
          </p:nvPr>
        </p:nvSpPr>
        <p:spPr>
          <a:xfrm>
            <a:off x="838200" y="577517"/>
            <a:ext cx="5181600" cy="5599446"/>
          </a:xfrm>
        </p:spPr>
        <p:txBody>
          <a:bodyPr/>
          <a:lstStyle/>
          <a:p>
            <a:pPr marL="0" indent="0">
              <a:buNone/>
            </a:pPr>
            <a:r>
              <a:rPr lang="en-US" b="1" dirty="0"/>
              <a:t>The optimizer chose a Nested Loop Join because a CROSS JOIN produces every possible combination of rows from both tables. This matches the logic of a Nested Loop, which compares each row of one table with every row of the other table.</a:t>
            </a:r>
            <a:endParaRPr lang="en-US" dirty="0"/>
          </a:p>
          <a:p>
            <a:endParaRPr lang="ru-RU" dirty="0"/>
          </a:p>
        </p:txBody>
      </p:sp>
      <p:pic>
        <p:nvPicPr>
          <p:cNvPr id="6" name="Content Placeholder 5">
            <a:extLst>
              <a:ext uri="{FF2B5EF4-FFF2-40B4-BE49-F238E27FC236}">
                <a16:creationId xmlns:a16="http://schemas.microsoft.com/office/drawing/2014/main" id="{BEEE36BA-99BD-ED7D-20D3-E429ECC91EC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577517"/>
            <a:ext cx="5779168" cy="5967662"/>
          </a:xfrm>
        </p:spPr>
      </p:pic>
    </p:spTree>
    <p:extLst>
      <p:ext uri="{BB962C8B-B14F-4D97-AF65-F5344CB8AC3E}">
        <p14:creationId xmlns:p14="http://schemas.microsoft.com/office/powerpoint/2010/main" val="978148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23749-D89C-63C2-285E-9956A6111652}"/>
              </a:ext>
            </a:extLst>
          </p:cNvPr>
          <p:cNvSpPr>
            <a:spLocks noGrp="1"/>
          </p:cNvSpPr>
          <p:nvPr>
            <p:ph type="title"/>
          </p:nvPr>
        </p:nvSpPr>
        <p:spPr>
          <a:xfrm>
            <a:off x="838200" y="1"/>
            <a:ext cx="10515600" cy="461912"/>
          </a:xfrm>
        </p:spPr>
        <p:txBody>
          <a:bodyPr>
            <a:normAutofit fontScale="90000"/>
          </a:bodyPr>
          <a:lstStyle/>
          <a:p>
            <a:r>
              <a:rPr lang="en-US" b="1" dirty="0"/>
              <a:t>1.2 TASK 2: HASH JOIN </a:t>
            </a:r>
            <a:endParaRPr lang="ru-RU" dirty="0"/>
          </a:p>
        </p:txBody>
      </p:sp>
      <p:sp>
        <p:nvSpPr>
          <p:cNvPr id="3" name="Content Placeholder 2">
            <a:extLst>
              <a:ext uri="{FF2B5EF4-FFF2-40B4-BE49-F238E27FC236}">
                <a16:creationId xmlns:a16="http://schemas.microsoft.com/office/drawing/2014/main" id="{6A677520-D06F-6BFC-4446-B76CFA7E4A8F}"/>
              </a:ext>
            </a:extLst>
          </p:cNvPr>
          <p:cNvSpPr>
            <a:spLocks noGrp="1"/>
          </p:cNvSpPr>
          <p:nvPr>
            <p:ph sz="half" idx="1"/>
          </p:nvPr>
        </p:nvSpPr>
        <p:spPr>
          <a:xfrm>
            <a:off x="65989" y="537328"/>
            <a:ext cx="5953812" cy="6052008"/>
          </a:xfrm>
        </p:spPr>
        <p:txBody>
          <a:bodyPr/>
          <a:lstStyle/>
          <a:p>
            <a:pPr marL="0" indent="0">
              <a:buNone/>
            </a:pPr>
            <a:r>
              <a:rPr lang="en-US" sz="1400" b="1" dirty="0"/>
              <a:t>1.2 TASK 2: HASH JOIN </a:t>
            </a:r>
            <a:endParaRPr lang="en-US" sz="1400" dirty="0"/>
          </a:p>
          <a:p>
            <a:pPr marL="0" indent="0">
              <a:buNone/>
            </a:pPr>
            <a:r>
              <a:rPr lang="en-US" sz="1400" b="1" dirty="0"/>
              <a:t>1. Rewrite SELECT to instruct the planner to use HASH JOIN method: </a:t>
            </a:r>
            <a:endParaRPr lang="en-US" sz="1400" dirty="0"/>
          </a:p>
          <a:p>
            <a:pPr marL="0" indent="0">
              <a:buNone/>
            </a:pPr>
            <a:r>
              <a:rPr lang="en-US" sz="1400" dirty="0"/>
              <a:t>To implement hash join:</a:t>
            </a:r>
          </a:p>
          <a:p>
            <a:pPr marL="342900" indent="-342900">
              <a:buAutoNum type="arabicPeriod"/>
            </a:pPr>
            <a:r>
              <a:rPr lang="en-US" sz="1400" dirty="0"/>
              <a:t>I changed WHERE a.id1 &gt; b.id1;   to WHERE a.id1 = b.id1; Since Hash Join cannot handle comparison  condition.</a:t>
            </a:r>
          </a:p>
          <a:p>
            <a:pPr marL="342900" indent="-342900">
              <a:buAutoNum type="arabicPeriod"/>
            </a:pPr>
            <a:r>
              <a:rPr lang="en-US" sz="1400" dirty="0"/>
              <a:t>SET </a:t>
            </a:r>
            <a:r>
              <a:rPr lang="en-US" sz="1400" dirty="0" err="1"/>
              <a:t>enable_nestloop</a:t>
            </a:r>
            <a:r>
              <a:rPr lang="en-US" sz="1400" dirty="0"/>
              <a:t> = off;</a:t>
            </a:r>
          </a:p>
          <a:p>
            <a:pPr marL="0" indent="0">
              <a:buNone/>
            </a:pPr>
            <a:r>
              <a:rPr lang="en-US" sz="1400" dirty="0"/>
              <a:t>        SET </a:t>
            </a:r>
            <a:r>
              <a:rPr lang="en-US" sz="1400" dirty="0" err="1"/>
              <a:t>enable_mergejoin</a:t>
            </a:r>
            <a:r>
              <a:rPr lang="en-US" sz="1400" dirty="0"/>
              <a:t> = off;</a:t>
            </a:r>
          </a:p>
          <a:p>
            <a:endParaRPr lang="en-US" sz="1400" dirty="0"/>
          </a:p>
          <a:p>
            <a:pPr marL="0" indent="0">
              <a:buNone/>
            </a:pPr>
            <a:r>
              <a:rPr lang="en-US" sz="1400" dirty="0"/>
              <a:t>Here is what happened:</a:t>
            </a:r>
          </a:p>
          <a:p>
            <a:pPr marL="0" indent="0">
              <a:buNone/>
            </a:pPr>
            <a:r>
              <a:rPr lang="en-US" sz="1800" dirty="0"/>
              <a:t>As we can see from screenshot: Hash Join is used. </a:t>
            </a:r>
          </a:p>
          <a:p>
            <a:pPr marL="0" indent="0">
              <a:buNone/>
            </a:pPr>
            <a:r>
              <a:rPr lang="en-US" sz="1800" dirty="0"/>
              <a:t>Sequential scan is used for both tables.</a:t>
            </a:r>
          </a:p>
          <a:p>
            <a:pPr marL="0" indent="0">
              <a:buNone/>
            </a:pPr>
            <a:r>
              <a:rPr lang="en-US" sz="1800" dirty="0"/>
              <a:t>PostgreSQL builds a hash table from </a:t>
            </a:r>
            <a:r>
              <a:rPr lang="en-US" sz="2000" dirty="0" err="1"/>
              <a:t>labs.test_joins_b</a:t>
            </a:r>
            <a:r>
              <a:rPr lang="en-US" sz="2000" dirty="0"/>
              <a:t> </a:t>
            </a:r>
            <a:r>
              <a:rPr lang="en-US" sz="1800" dirty="0"/>
              <a:t>instead of materializing it.</a:t>
            </a:r>
            <a:endParaRPr lang="ru-RU" sz="1800" dirty="0"/>
          </a:p>
        </p:txBody>
      </p:sp>
      <p:pic>
        <p:nvPicPr>
          <p:cNvPr id="6" name="Content Placeholder 5">
            <a:extLst>
              <a:ext uri="{FF2B5EF4-FFF2-40B4-BE49-F238E27FC236}">
                <a16:creationId xmlns:a16="http://schemas.microsoft.com/office/drawing/2014/main" id="{25938273-C28B-AAFA-DFE0-D5F912FEE969}"/>
              </a:ext>
            </a:extLst>
          </p:cNvPr>
          <p:cNvPicPr>
            <a:picLocks noGrp="1" noChangeAspect="1"/>
          </p:cNvPicPr>
          <p:nvPr>
            <p:ph sz="half" idx="2"/>
          </p:nvPr>
        </p:nvPicPr>
        <p:blipFill>
          <a:blip r:embed="rId2"/>
          <a:stretch>
            <a:fillRect/>
          </a:stretch>
        </p:blipFill>
        <p:spPr>
          <a:xfrm>
            <a:off x="7015641" y="536575"/>
            <a:ext cx="4136268" cy="6053138"/>
          </a:xfrm>
          <a:prstGeom prst="rect">
            <a:avLst/>
          </a:prstGeom>
        </p:spPr>
      </p:pic>
    </p:spTree>
    <p:extLst>
      <p:ext uri="{BB962C8B-B14F-4D97-AF65-F5344CB8AC3E}">
        <p14:creationId xmlns:p14="http://schemas.microsoft.com/office/powerpoint/2010/main" val="401724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4F17B-9DE1-93A2-FD18-907320D5A8FE}"/>
              </a:ext>
            </a:extLst>
          </p:cNvPr>
          <p:cNvSpPr>
            <a:spLocks noGrp="1"/>
          </p:cNvSpPr>
          <p:nvPr>
            <p:ph type="title"/>
          </p:nvPr>
        </p:nvSpPr>
        <p:spPr>
          <a:xfrm>
            <a:off x="187750" y="150616"/>
            <a:ext cx="10515600" cy="530421"/>
          </a:xfrm>
        </p:spPr>
        <p:txBody>
          <a:bodyPr>
            <a:normAutofit fontScale="90000"/>
          </a:bodyPr>
          <a:lstStyle/>
          <a:p>
            <a:br>
              <a:rPr lang="ru-RU" dirty="0"/>
            </a:br>
            <a:r>
              <a:rPr lang="en-US" sz="2000" b="1" dirty="0"/>
              <a:t>2. Create query with SEMI JOIN between tables to get HASH SEMI JOIN in the plan. </a:t>
            </a:r>
            <a:br>
              <a:rPr lang="en-US" dirty="0"/>
            </a:br>
            <a:endParaRPr lang="ru-RU" dirty="0"/>
          </a:p>
        </p:txBody>
      </p:sp>
      <p:sp>
        <p:nvSpPr>
          <p:cNvPr id="3" name="Content Placeholder 2">
            <a:extLst>
              <a:ext uri="{FF2B5EF4-FFF2-40B4-BE49-F238E27FC236}">
                <a16:creationId xmlns:a16="http://schemas.microsoft.com/office/drawing/2014/main" id="{4C4F40D6-863E-BF98-036B-DF7B95C96DE9}"/>
              </a:ext>
            </a:extLst>
          </p:cNvPr>
          <p:cNvSpPr>
            <a:spLocks noGrp="1"/>
          </p:cNvSpPr>
          <p:nvPr>
            <p:ph sz="half" idx="1"/>
          </p:nvPr>
        </p:nvSpPr>
        <p:spPr>
          <a:xfrm>
            <a:off x="187751" y="680939"/>
            <a:ext cx="5832050" cy="6026347"/>
          </a:xfrm>
        </p:spPr>
        <p:txBody>
          <a:bodyPr>
            <a:normAutofit/>
          </a:bodyPr>
          <a:lstStyle/>
          <a:p>
            <a:pPr marL="0" indent="0">
              <a:buNone/>
            </a:pPr>
            <a:r>
              <a:rPr lang="en-US" sz="2000" dirty="0"/>
              <a:t>To get Hash Semi join:</a:t>
            </a:r>
          </a:p>
          <a:p>
            <a:pPr marL="0" indent="0">
              <a:buNone/>
            </a:pPr>
            <a:r>
              <a:rPr lang="en-US" sz="2000" dirty="0"/>
              <a:t>SET </a:t>
            </a:r>
            <a:r>
              <a:rPr lang="en-US" sz="2000" dirty="0" err="1"/>
              <a:t>enable_nestloop</a:t>
            </a:r>
            <a:r>
              <a:rPr lang="en-US" sz="2000" dirty="0"/>
              <a:t> = off;</a:t>
            </a:r>
          </a:p>
          <a:p>
            <a:pPr marL="0" indent="0">
              <a:buNone/>
            </a:pPr>
            <a:r>
              <a:rPr lang="en-US" sz="2000" dirty="0"/>
              <a:t>SET </a:t>
            </a:r>
            <a:r>
              <a:rPr lang="en-US" sz="2000" dirty="0" err="1"/>
              <a:t>enable_mergejoin</a:t>
            </a:r>
            <a:r>
              <a:rPr lang="en-US" sz="2000" dirty="0"/>
              <a:t> = off;</a:t>
            </a:r>
          </a:p>
          <a:p>
            <a:pPr marL="0" indent="0">
              <a:buNone/>
            </a:pPr>
            <a:endParaRPr lang="en-US" sz="2000" dirty="0"/>
          </a:p>
          <a:p>
            <a:pPr marL="0" indent="0">
              <a:buNone/>
            </a:pPr>
            <a:r>
              <a:rPr lang="en-US" sz="2000" dirty="0"/>
              <a:t>Plan description:</a:t>
            </a:r>
          </a:p>
          <a:p>
            <a:pPr marL="0" indent="0">
              <a:buNone/>
            </a:pPr>
            <a:r>
              <a:rPr lang="en-US" sz="2000" dirty="0"/>
              <a:t>Seq Scan on both tables </a:t>
            </a:r>
          </a:p>
          <a:p>
            <a:pPr marL="0" indent="0">
              <a:buNone/>
            </a:pPr>
            <a:r>
              <a:rPr lang="en-US" sz="2000" dirty="0"/>
              <a:t>Creating hash table for </a:t>
            </a:r>
            <a:r>
              <a:rPr lang="en-US" sz="2000" dirty="0" err="1"/>
              <a:t>labs.test_joins_b</a:t>
            </a:r>
            <a:endParaRPr lang="en-US" sz="2000" dirty="0"/>
          </a:p>
          <a:p>
            <a:pPr marL="0" indent="0">
              <a:buNone/>
            </a:pPr>
            <a:r>
              <a:rPr lang="en-US" sz="2000" dirty="0"/>
              <a:t>Hash condition</a:t>
            </a:r>
          </a:p>
          <a:p>
            <a:pPr marL="0" indent="0">
              <a:buNone/>
            </a:pPr>
            <a:r>
              <a:rPr lang="en-US" sz="2000" b="1" dirty="0"/>
              <a:t>Hash Semi Join</a:t>
            </a:r>
            <a:r>
              <a:rPr lang="en-US" sz="2000" dirty="0"/>
              <a:t> checks whether a matching row exists in </a:t>
            </a:r>
            <a:r>
              <a:rPr lang="en-US" sz="2000" dirty="0" err="1"/>
              <a:t>labs.test_joins_b</a:t>
            </a:r>
            <a:r>
              <a:rPr lang="en-US" sz="2000" dirty="0"/>
              <a:t> and returns only the rows from </a:t>
            </a:r>
            <a:r>
              <a:rPr lang="en-US" sz="2000" dirty="0" err="1"/>
              <a:t>labs.test_joins_a</a:t>
            </a:r>
            <a:r>
              <a:rPr lang="en-US" sz="2000" dirty="0"/>
              <a:t>.</a:t>
            </a:r>
          </a:p>
        </p:txBody>
      </p:sp>
      <p:pic>
        <p:nvPicPr>
          <p:cNvPr id="6" name="Content Placeholder 5">
            <a:extLst>
              <a:ext uri="{FF2B5EF4-FFF2-40B4-BE49-F238E27FC236}">
                <a16:creationId xmlns:a16="http://schemas.microsoft.com/office/drawing/2014/main" id="{942BC7D3-1D38-5690-9384-86407A7A1F53}"/>
              </a:ext>
            </a:extLst>
          </p:cNvPr>
          <p:cNvPicPr>
            <a:picLocks noGrp="1" noChangeAspect="1"/>
          </p:cNvPicPr>
          <p:nvPr>
            <p:ph sz="half" idx="2"/>
          </p:nvPr>
        </p:nvPicPr>
        <p:blipFill>
          <a:blip r:embed="rId2"/>
          <a:stretch>
            <a:fillRect/>
          </a:stretch>
        </p:blipFill>
        <p:spPr>
          <a:xfrm>
            <a:off x="6172200" y="1916291"/>
            <a:ext cx="5913438" cy="3555644"/>
          </a:xfrm>
          <a:prstGeom prst="rect">
            <a:avLst/>
          </a:prstGeom>
        </p:spPr>
      </p:pic>
    </p:spTree>
    <p:extLst>
      <p:ext uri="{BB962C8B-B14F-4D97-AF65-F5344CB8AC3E}">
        <p14:creationId xmlns:p14="http://schemas.microsoft.com/office/powerpoint/2010/main" val="3590649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E4D5E-D552-1F45-A7BC-A9B47BB90507}"/>
              </a:ext>
            </a:extLst>
          </p:cNvPr>
          <p:cNvSpPr>
            <a:spLocks noGrp="1"/>
          </p:cNvSpPr>
          <p:nvPr>
            <p:ph type="title"/>
          </p:nvPr>
        </p:nvSpPr>
        <p:spPr/>
        <p:txBody>
          <a:bodyPr>
            <a:normAutofit/>
          </a:bodyPr>
          <a:lstStyle/>
          <a:p>
            <a:br>
              <a:rPr lang="ru-RU" dirty="0"/>
            </a:br>
            <a:r>
              <a:rPr lang="en-US" sz="2200" b="1" dirty="0"/>
              <a:t>3. Set </a:t>
            </a:r>
            <a:r>
              <a:rPr lang="en-US" sz="2200" b="1" dirty="0" err="1"/>
              <a:t>enable_hashjoin</a:t>
            </a:r>
            <a:r>
              <a:rPr lang="en-US" sz="2200" b="1" dirty="0"/>
              <a:t> to off and recheck plan. Switch on </a:t>
            </a:r>
            <a:r>
              <a:rPr lang="en-US" sz="2200" b="1" dirty="0" err="1"/>
              <a:t>enable_hashjoin</a:t>
            </a:r>
            <a:r>
              <a:rPr lang="en-US" sz="2200" b="1" dirty="0"/>
              <a:t>. </a:t>
            </a:r>
            <a:br>
              <a:rPr lang="en-US" sz="2200" b="1" dirty="0"/>
            </a:br>
            <a:endParaRPr lang="ru-RU" sz="2200" b="1" dirty="0"/>
          </a:p>
        </p:txBody>
      </p:sp>
      <p:sp>
        <p:nvSpPr>
          <p:cNvPr id="3" name="Content Placeholder 2">
            <a:extLst>
              <a:ext uri="{FF2B5EF4-FFF2-40B4-BE49-F238E27FC236}">
                <a16:creationId xmlns:a16="http://schemas.microsoft.com/office/drawing/2014/main" id="{BFB74FE5-12B2-4E9A-1CA4-D8E920878024}"/>
              </a:ext>
            </a:extLst>
          </p:cNvPr>
          <p:cNvSpPr>
            <a:spLocks noGrp="1"/>
          </p:cNvSpPr>
          <p:nvPr>
            <p:ph sz="half" idx="1"/>
          </p:nvPr>
        </p:nvSpPr>
        <p:spPr/>
        <p:txBody>
          <a:bodyPr>
            <a:normAutofit/>
          </a:bodyPr>
          <a:lstStyle/>
          <a:p>
            <a:pPr marL="0" indent="0">
              <a:buNone/>
            </a:pPr>
            <a:endParaRPr lang="en-US" sz="2000" dirty="0"/>
          </a:p>
          <a:p>
            <a:pPr marL="0" indent="0">
              <a:buNone/>
            </a:pPr>
            <a:r>
              <a:rPr lang="en-US" sz="2000" dirty="0"/>
              <a:t>After enabling hash join off:</a:t>
            </a:r>
          </a:p>
          <a:p>
            <a:pPr marL="0" indent="0">
              <a:buNone/>
            </a:pPr>
            <a:r>
              <a:rPr lang="en-US" sz="2000" dirty="0"/>
              <a:t>PostgreSQL cannot use a Hash Semi Join because Hash Join is disabled</a:t>
            </a:r>
          </a:p>
          <a:p>
            <a:pPr marL="0" indent="0">
              <a:buNone/>
            </a:pPr>
            <a:r>
              <a:rPr lang="en-US" sz="2000" dirty="0"/>
              <a:t>Instead, it chooses a Nested Loop Semi Join.</a:t>
            </a:r>
          </a:p>
          <a:p>
            <a:pPr marL="0" indent="0">
              <a:buNone/>
            </a:pPr>
            <a:r>
              <a:rPr lang="en-US" sz="2000" dirty="0"/>
              <a:t>Both tables are still read using Sequential Scans.</a:t>
            </a:r>
          </a:p>
          <a:p>
            <a:pPr marL="0" indent="0">
              <a:buNone/>
            </a:pPr>
            <a:r>
              <a:rPr lang="en-US" sz="2000" dirty="0"/>
              <a:t>Instead of building a hash table from </a:t>
            </a:r>
            <a:r>
              <a:rPr lang="en-US" sz="2000" dirty="0" err="1"/>
              <a:t>labs.test_joins_b</a:t>
            </a:r>
            <a:r>
              <a:rPr lang="en-US" sz="2000" dirty="0"/>
              <a:t>, PostgreSQL materializes it in memory so it can be reused during the nested loop without scanning the table repeatedly.</a:t>
            </a:r>
          </a:p>
          <a:p>
            <a:pPr marL="0" indent="0">
              <a:buNone/>
            </a:pPr>
            <a:r>
              <a:rPr lang="en-US" sz="2000" dirty="0"/>
              <a:t>The join is performed using the condition a.id1 = b.id1.</a:t>
            </a:r>
          </a:p>
        </p:txBody>
      </p:sp>
      <p:pic>
        <p:nvPicPr>
          <p:cNvPr id="6" name="Content Placeholder 5">
            <a:extLst>
              <a:ext uri="{FF2B5EF4-FFF2-40B4-BE49-F238E27FC236}">
                <a16:creationId xmlns:a16="http://schemas.microsoft.com/office/drawing/2014/main" id="{67CB09CA-9D39-C889-8B8E-A2DE30A181F7}"/>
              </a:ext>
            </a:extLst>
          </p:cNvPr>
          <p:cNvPicPr>
            <a:picLocks noGrp="1" noChangeAspect="1"/>
          </p:cNvPicPr>
          <p:nvPr>
            <p:ph sz="half" idx="2"/>
          </p:nvPr>
        </p:nvPicPr>
        <p:blipFill>
          <a:blip r:embed="rId2"/>
          <a:stretch>
            <a:fillRect/>
          </a:stretch>
        </p:blipFill>
        <p:spPr>
          <a:xfrm>
            <a:off x="6172200" y="2099607"/>
            <a:ext cx="5181600" cy="3803373"/>
          </a:xfrm>
          <a:prstGeom prst="rect">
            <a:avLst/>
          </a:prstGeom>
        </p:spPr>
      </p:pic>
    </p:spTree>
    <p:extLst>
      <p:ext uri="{BB962C8B-B14F-4D97-AF65-F5344CB8AC3E}">
        <p14:creationId xmlns:p14="http://schemas.microsoft.com/office/powerpoint/2010/main" val="3379390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8168A-01B9-7977-BB62-6F963B93E116}"/>
              </a:ext>
            </a:extLst>
          </p:cNvPr>
          <p:cNvSpPr>
            <a:spLocks noGrp="1"/>
          </p:cNvSpPr>
          <p:nvPr>
            <p:ph type="title"/>
          </p:nvPr>
        </p:nvSpPr>
        <p:spPr/>
        <p:txBody>
          <a:bodyPr/>
          <a:lstStyle/>
          <a:p>
            <a:r>
              <a:rPr lang="en-US" dirty="0"/>
              <a:t>1.3 TASK 3: MERGE JOIN</a:t>
            </a:r>
            <a:endParaRPr lang="ru-RU" dirty="0"/>
          </a:p>
        </p:txBody>
      </p:sp>
      <p:sp>
        <p:nvSpPr>
          <p:cNvPr id="3" name="Content Placeholder 2">
            <a:extLst>
              <a:ext uri="{FF2B5EF4-FFF2-40B4-BE49-F238E27FC236}">
                <a16:creationId xmlns:a16="http://schemas.microsoft.com/office/drawing/2014/main" id="{B40B2B02-46F6-DAE9-71E8-BFFE099C6D9F}"/>
              </a:ext>
            </a:extLst>
          </p:cNvPr>
          <p:cNvSpPr>
            <a:spLocks noGrp="1"/>
          </p:cNvSpPr>
          <p:nvPr>
            <p:ph sz="half" idx="1"/>
          </p:nvPr>
        </p:nvSpPr>
        <p:spPr/>
        <p:txBody>
          <a:bodyPr/>
          <a:lstStyle/>
          <a:p>
            <a:pPr marL="0" indent="0">
              <a:buNone/>
            </a:pPr>
            <a:r>
              <a:rPr lang="en-US" dirty="0"/>
              <a:t>Used seq scan for both tables,</a:t>
            </a:r>
          </a:p>
          <a:p>
            <a:pPr marL="0" indent="0">
              <a:buNone/>
            </a:pPr>
            <a:r>
              <a:rPr lang="en-US" dirty="0"/>
              <a:t>Columns b.id1 and a.id1 are sorted since for merge join columns must be sorted . And Merge join is used.</a:t>
            </a:r>
            <a:endParaRPr lang="ru-RU" dirty="0"/>
          </a:p>
        </p:txBody>
      </p:sp>
      <p:pic>
        <p:nvPicPr>
          <p:cNvPr id="6" name="Content Placeholder 5">
            <a:extLst>
              <a:ext uri="{FF2B5EF4-FFF2-40B4-BE49-F238E27FC236}">
                <a16:creationId xmlns:a16="http://schemas.microsoft.com/office/drawing/2014/main" id="{7DA02584-6B80-9F93-FD9F-7D18B2BE933D}"/>
              </a:ext>
            </a:extLst>
          </p:cNvPr>
          <p:cNvPicPr>
            <a:picLocks noGrp="1" noChangeAspect="1"/>
          </p:cNvPicPr>
          <p:nvPr>
            <p:ph sz="half" idx="2"/>
          </p:nvPr>
        </p:nvPicPr>
        <p:blipFill>
          <a:blip r:embed="rId2"/>
          <a:stretch>
            <a:fillRect/>
          </a:stretch>
        </p:blipFill>
        <p:spPr>
          <a:xfrm>
            <a:off x="6172200" y="2328961"/>
            <a:ext cx="5181600" cy="3344666"/>
          </a:xfrm>
          <a:prstGeom prst="rect">
            <a:avLst/>
          </a:prstGeom>
        </p:spPr>
      </p:pic>
    </p:spTree>
    <p:extLst>
      <p:ext uri="{BB962C8B-B14F-4D97-AF65-F5344CB8AC3E}">
        <p14:creationId xmlns:p14="http://schemas.microsoft.com/office/powerpoint/2010/main" val="39713119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A352C-B6F9-2485-E72B-57DC05F29564}"/>
              </a:ext>
            </a:extLst>
          </p:cNvPr>
          <p:cNvSpPr>
            <a:spLocks noGrp="1"/>
          </p:cNvSpPr>
          <p:nvPr>
            <p:ph type="title"/>
          </p:nvPr>
        </p:nvSpPr>
        <p:spPr/>
        <p:txBody>
          <a:bodyPr>
            <a:normAutofit/>
          </a:bodyPr>
          <a:lstStyle/>
          <a:p>
            <a:br>
              <a:rPr lang="ru-RU" sz="2400" dirty="0"/>
            </a:br>
            <a:r>
              <a:rPr lang="en-US" sz="2400" dirty="0"/>
              <a:t>2. Set </a:t>
            </a:r>
            <a:r>
              <a:rPr lang="en-US" sz="2400" dirty="0" err="1"/>
              <a:t>enable_mergejoin</a:t>
            </a:r>
            <a:r>
              <a:rPr lang="en-US" sz="2400" dirty="0"/>
              <a:t> to off and recheck plan. Switch on </a:t>
            </a:r>
            <a:r>
              <a:rPr lang="en-US" sz="2400" dirty="0" err="1"/>
              <a:t>enable_mergejoin</a:t>
            </a:r>
            <a:r>
              <a:rPr lang="en-US" sz="2400" dirty="0"/>
              <a:t>. </a:t>
            </a:r>
          </a:p>
        </p:txBody>
      </p:sp>
      <p:sp>
        <p:nvSpPr>
          <p:cNvPr id="3" name="Content Placeholder 2">
            <a:extLst>
              <a:ext uri="{FF2B5EF4-FFF2-40B4-BE49-F238E27FC236}">
                <a16:creationId xmlns:a16="http://schemas.microsoft.com/office/drawing/2014/main" id="{E800D89C-B883-94DD-B315-39CE612333B2}"/>
              </a:ext>
            </a:extLst>
          </p:cNvPr>
          <p:cNvSpPr>
            <a:spLocks noGrp="1"/>
          </p:cNvSpPr>
          <p:nvPr>
            <p:ph sz="half" idx="1"/>
          </p:nvPr>
        </p:nvSpPr>
        <p:spPr/>
        <p:txBody>
          <a:bodyPr/>
          <a:lstStyle/>
          <a:p>
            <a:pPr marL="0" indent="0">
              <a:buNone/>
            </a:pPr>
            <a:r>
              <a:rPr lang="en-US" dirty="0"/>
              <a:t>After merge join </a:t>
            </a:r>
            <a:r>
              <a:rPr lang="en-US" dirty="0" err="1"/>
              <a:t>seet</a:t>
            </a:r>
            <a:r>
              <a:rPr lang="en-US" dirty="0"/>
              <a:t> off Nested loop join is used</a:t>
            </a:r>
            <a:endParaRPr lang="ru-RU" dirty="0"/>
          </a:p>
        </p:txBody>
      </p:sp>
      <p:pic>
        <p:nvPicPr>
          <p:cNvPr id="6" name="Content Placeholder 5">
            <a:extLst>
              <a:ext uri="{FF2B5EF4-FFF2-40B4-BE49-F238E27FC236}">
                <a16:creationId xmlns:a16="http://schemas.microsoft.com/office/drawing/2014/main" id="{DFD0FD70-764D-5424-7CDC-2014CFF4C715}"/>
              </a:ext>
            </a:extLst>
          </p:cNvPr>
          <p:cNvPicPr>
            <a:picLocks noGrp="1" noChangeAspect="1"/>
          </p:cNvPicPr>
          <p:nvPr>
            <p:ph sz="half" idx="2"/>
          </p:nvPr>
        </p:nvPicPr>
        <p:blipFill>
          <a:blip r:embed="rId2"/>
          <a:stretch>
            <a:fillRect/>
          </a:stretch>
        </p:blipFill>
        <p:spPr>
          <a:xfrm>
            <a:off x="6172202" y="1690688"/>
            <a:ext cx="5181600" cy="4001201"/>
          </a:xfrm>
          <a:prstGeom prst="rect">
            <a:avLst/>
          </a:prstGeom>
        </p:spPr>
      </p:pic>
    </p:spTree>
    <p:extLst>
      <p:ext uri="{BB962C8B-B14F-4D97-AF65-F5344CB8AC3E}">
        <p14:creationId xmlns:p14="http://schemas.microsoft.com/office/powerpoint/2010/main" val="2229078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28F64-17DC-D27E-FD22-0E383011EE73}"/>
              </a:ext>
            </a:extLst>
          </p:cNvPr>
          <p:cNvSpPr>
            <a:spLocks noGrp="1"/>
          </p:cNvSpPr>
          <p:nvPr>
            <p:ph type="title"/>
          </p:nvPr>
        </p:nvSpPr>
        <p:spPr/>
        <p:txBody>
          <a:bodyPr>
            <a:normAutofit fontScale="90000"/>
          </a:bodyPr>
          <a:lstStyle/>
          <a:p>
            <a:br>
              <a:rPr lang="ru-RU" dirty="0"/>
            </a:br>
            <a:r>
              <a:rPr lang="en-US" sz="2700" dirty="0"/>
              <a:t>2. Check the plan. Describe the order of tables joining: </a:t>
            </a:r>
            <a:br>
              <a:rPr lang="en-US" dirty="0"/>
            </a:br>
            <a:endParaRPr lang="ru-RU" dirty="0"/>
          </a:p>
        </p:txBody>
      </p:sp>
      <p:sp>
        <p:nvSpPr>
          <p:cNvPr id="3" name="Content Placeholder 2">
            <a:extLst>
              <a:ext uri="{FF2B5EF4-FFF2-40B4-BE49-F238E27FC236}">
                <a16:creationId xmlns:a16="http://schemas.microsoft.com/office/drawing/2014/main" id="{B37373A1-B9DF-017A-91A1-16C38B9245DD}"/>
              </a:ext>
            </a:extLst>
          </p:cNvPr>
          <p:cNvSpPr>
            <a:spLocks noGrp="1"/>
          </p:cNvSpPr>
          <p:nvPr>
            <p:ph sz="half" idx="1"/>
          </p:nvPr>
        </p:nvSpPr>
        <p:spPr>
          <a:xfrm>
            <a:off x="208547" y="1235242"/>
            <a:ext cx="5811253" cy="4941721"/>
          </a:xfrm>
        </p:spPr>
        <p:txBody>
          <a:bodyPr/>
          <a:lstStyle/>
          <a:p>
            <a:pPr marL="0" indent="0">
              <a:buNone/>
            </a:pPr>
            <a:r>
              <a:rPr lang="en-US" dirty="0"/>
              <a:t>PostgreSQL first joins </a:t>
            </a:r>
            <a:r>
              <a:rPr lang="en-US" dirty="0" err="1"/>
              <a:t>labs.test_joins_b</a:t>
            </a:r>
            <a:r>
              <a:rPr lang="en-US" dirty="0"/>
              <a:t> with </a:t>
            </a:r>
            <a:r>
              <a:rPr lang="en-US" dirty="0" err="1"/>
              <a:t>labs.test_joins_a</a:t>
            </a:r>
            <a:r>
              <a:rPr lang="en-US" dirty="0"/>
              <a:t> using a Merge Join. Then it joins the result with </a:t>
            </a:r>
            <a:r>
              <a:rPr lang="en-US" dirty="0" err="1"/>
              <a:t>labs.test_joins_c</a:t>
            </a:r>
            <a:r>
              <a:rPr lang="en-US" dirty="0"/>
              <a:t> using a Merge Left Join.</a:t>
            </a:r>
            <a:endParaRPr lang="ru-RU" dirty="0"/>
          </a:p>
        </p:txBody>
      </p:sp>
      <p:pic>
        <p:nvPicPr>
          <p:cNvPr id="6" name="Content Placeholder 5">
            <a:extLst>
              <a:ext uri="{FF2B5EF4-FFF2-40B4-BE49-F238E27FC236}">
                <a16:creationId xmlns:a16="http://schemas.microsoft.com/office/drawing/2014/main" id="{658C10CC-8698-D65A-3E2F-8C1A6B632D6E}"/>
              </a:ext>
            </a:extLst>
          </p:cNvPr>
          <p:cNvPicPr>
            <a:picLocks noGrp="1" noChangeAspect="1"/>
          </p:cNvPicPr>
          <p:nvPr>
            <p:ph sz="half" idx="2"/>
          </p:nvPr>
        </p:nvPicPr>
        <p:blipFill>
          <a:blip r:embed="rId2"/>
          <a:stretch>
            <a:fillRect/>
          </a:stretch>
        </p:blipFill>
        <p:spPr>
          <a:xfrm>
            <a:off x="6172203" y="1363579"/>
            <a:ext cx="5811250" cy="4813384"/>
          </a:xfrm>
          <a:prstGeom prst="rect">
            <a:avLst/>
          </a:prstGeom>
        </p:spPr>
      </p:pic>
    </p:spTree>
    <p:extLst>
      <p:ext uri="{BB962C8B-B14F-4D97-AF65-F5344CB8AC3E}">
        <p14:creationId xmlns:p14="http://schemas.microsoft.com/office/powerpoint/2010/main" val="3275456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05410-97A6-C7DE-CBE0-E4DF70340E95}"/>
              </a:ext>
            </a:extLst>
          </p:cNvPr>
          <p:cNvSpPr>
            <a:spLocks noGrp="1"/>
          </p:cNvSpPr>
          <p:nvPr>
            <p:ph type="title"/>
          </p:nvPr>
        </p:nvSpPr>
        <p:spPr/>
        <p:txBody>
          <a:bodyPr>
            <a:normAutofit fontScale="90000"/>
          </a:bodyPr>
          <a:lstStyle/>
          <a:p>
            <a:br>
              <a:rPr lang="ru-RU" dirty="0"/>
            </a:br>
            <a:r>
              <a:rPr lang="en-US" sz="2200" dirty="0"/>
              <a:t>3. Set </a:t>
            </a:r>
            <a:r>
              <a:rPr lang="en-US" sz="2200" dirty="0" err="1"/>
              <a:t>join_collapse_limit</a:t>
            </a:r>
            <a:r>
              <a:rPr lang="en-US" sz="2200" dirty="0"/>
              <a:t> = 1 and recreate plan for query above. Describe changes if any. Return </a:t>
            </a:r>
            <a:r>
              <a:rPr lang="en-US" sz="2200" dirty="0" err="1"/>
              <a:t>join_collapse_limit</a:t>
            </a:r>
            <a:r>
              <a:rPr lang="en-US" sz="2200" dirty="0"/>
              <a:t> = 8. </a:t>
            </a:r>
            <a:br>
              <a:rPr lang="en-US" dirty="0"/>
            </a:br>
            <a:endParaRPr lang="ru-RU" dirty="0"/>
          </a:p>
        </p:txBody>
      </p:sp>
      <p:sp>
        <p:nvSpPr>
          <p:cNvPr id="3" name="Content Placeholder 2">
            <a:extLst>
              <a:ext uri="{FF2B5EF4-FFF2-40B4-BE49-F238E27FC236}">
                <a16:creationId xmlns:a16="http://schemas.microsoft.com/office/drawing/2014/main" id="{082326D7-B5EE-5161-430C-4D88D24FF26D}"/>
              </a:ext>
            </a:extLst>
          </p:cNvPr>
          <p:cNvSpPr>
            <a:spLocks noGrp="1"/>
          </p:cNvSpPr>
          <p:nvPr>
            <p:ph sz="half" idx="1"/>
          </p:nvPr>
        </p:nvSpPr>
        <p:spPr/>
        <p:txBody>
          <a:bodyPr/>
          <a:lstStyle/>
          <a:p>
            <a:pPr marL="0" indent="0">
              <a:buNone/>
            </a:pPr>
            <a:r>
              <a:rPr lang="en-US" dirty="0" err="1"/>
              <a:t>join_collapse_limit</a:t>
            </a:r>
            <a:r>
              <a:rPr lang="en-US" dirty="0"/>
              <a:t> = 1 </a:t>
            </a:r>
            <a:r>
              <a:rPr lang="en-US" sz="2000" dirty="0">
                <a:latin typeface="+mj-lt"/>
                <a:ea typeface="+mj-ea"/>
                <a:cs typeface="+mj-cs"/>
              </a:rPr>
              <a:t>forces PostgreSQL to follow the join order written in the query instead of reordering the joins. In this case, the execution plan did not change because PostgreSQL was already using the same join order</a:t>
            </a:r>
            <a:r>
              <a:rPr lang="en-US" dirty="0"/>
              <a:t>.</a:t>
            </a:r>
            <a:endParaRPr lang="ru-RU" dirty="0"/>
          </a:p>
        </p:txBody>
      </p:sp>
      <p:pic>
        <p:nvPicPr>
          <p:cNvPr id="6" name="Content Placeholder 5">
            <a:extLst>
              <a:ext uri="{FF2B5EF4-FFF2-40B4-BE49-F238E27FC236}">
                <a16:creationId xmlns:a16="http://schemas.microsoft.com/office/drawing/2014/main" id="{038F74E2-8EF6-7C07-DDE2-032E3EF7C4F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557629" y="1825625"/>
            <a:ext cx="4410742" cy="4351338"/>
          </a:xfrm>
        </p:spPr>
      </p:pic>
    </p:spTree>
    <p:extLst>
      <p:ext uri="{BB962C8B-B14F-4D97-AF65-F5344CB8AC3E}">
        <p14:creationId xmlns:p14="http://schemas.microsoft.com/office/powerpoint/2010/main" val="419044860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docProps/app.xml><?xml version="1.0" encoding="utf-8"?>
<Properties xmlns="http://schemas.openxmlformats.org/officeDocument/2006/extended-properties" xmlns:vt="http://schemas.openxmlformats.org/officeDocument/2006/docPropsVTypes">
  <Template>Retrospect</Template>
  <TotalTime>254</TotalTime>
  <Words>689</Words>
  <Application>Microsoft Office PowerPoint</Application>
  <PresentationFormat>Widescreen</PresentationFormat>
  <Paragraphs>44</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  PostgreSQL Join Methods   </vt:lpstr>
      <vt:lpstr>1. JOIN METHODS </vt:lpstr>
      <vt:lpstr>PowerPoint Presentation</vt:lpstr>
      <vt:lpstr>1.2 TASK 2: HASH JOIN </vt:lpstr>
      <vt:lpstr> 2. Create query with SEMI JOIN between tables to get HASH SEMI JOIN in the plan.  </vt:lpstr>
      <vt:lpstr> 3. Set enable_hashjoin to off and recheck plan. Switch on enable_hashjoin.  </vt:lpstr>
      <vt:lpstr>1.3 TASK 3: MERGE JOIN</vt:lpstr>
      <vt:lpstr> 2. Set enable_mergejoin to off and recheck plan. Switch on enable_mergejoin. </vt:lpstr>
      <vt:lpstr> 2. Check the plan. Describe the order of tables joining:  </vt:lpstr>
      <vt:lpstr> 3. Set join_collapse_limit = 1 and recreate plan for query above. Describe changes if any. Return join_collapse_limit = 8.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Suvonov</dc:creator>
  <cp:lastModifiedBy>Muhammad Suvonov</cp:lastModifiedBy>
  <cp:revision>7</cp:revision>
  <dcterms:created xsi:type="dcterms:W3CDTF">2026-07-13T02:42:56Z</dcterms:created>
  <dcterms:modified xsi:type="dcterms:W3CDTF">2026-07-13T17:12:17Z</dcterms:modified>
</cp:coreProperties>
</file>